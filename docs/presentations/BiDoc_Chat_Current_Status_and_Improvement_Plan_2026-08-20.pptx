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d0015ee824c83" /><Relationship Type="http://schemas.openxmlformats.org/officeDocument/2006/relationships/extended-properties" Target="/docProps/app.xml" Id="Rddde3889f56e4899" /><Relationship Type="http://schemas.openxmlformats.org/officeDocument/2006/relationships/officeDocument" Target="/ppt/presentation.xml" Id="R06b01942eec6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1e462fdf704771"/>
  </p:sldMasterIdLst>
  <p:notesMasterIdLst>
    <p:notesMasterId xmlns:r="http://schemas.openxmlformats.org/officeDocument/2006/relationships" r:id="R14d75ebbde2a470d"/>
  </p:notesMasterIdLst>
  <p:sldIdLst>
    <p:sldId xmlns:r="http://schemas.openxmlformats.org/officeDocument/2006/relationships" id="256" r:id="R3263690a175e4b3e"/>
    <p:sldId xmlns:r="http://schemas.openxmlformats.org/officeDocument/2006/relationships" id="257" r:id="Rba1a35df49234ca2"/>
    <p:sldId xmlns:r="http://schemas.openxmlformats.org/officeDocument/2006/relationships" id="258" r:id="Rc2f45edc79b24357"/>
    <p:sldId xmlns:r="http://schemas.openxmlformats.org/officeDocument/2006/relationships" id="259" r:id="R0291cc2bc3f84f44"/>
    <p:sldId xmlns:r="http://schemas.openxmlformats.org/officeDocument/2006/relationships" id="260" r:id="R9a3656aacf334f3d"/>
    <p:sldId xmlns:r="http://schemas.openxmlformats.org/officeDocument/2006/relationships" id="261" r:id="R1f75383336a14005"/>
    <p:sldId xmlns:r="http://schemas.openxmlformats.org/officeDocument/2006/relationships" id="262" r:id="R9bc5a85671a84e73"/>
    <p:sldId xmlns:r="http://schemas.openxmlformats.org/officeDocument/2006/relationships" id="263" r:id="Rb96ec262bb7b4e83"/>
    <p:sldId xmlns:r="http://schemas.openxmlformats.org/officeDocument/2006/relationships" id="264" r:id="R922406b2d2014ee9"/>
    <p:sldId xmlns:r="http://schemas.openxmlformats.org/officeDocument/2006/relationships" id="265" r:id="R1f53cd0f28024c04"/>
    <p:sldId xmlns:r="http://schemas.openxmlformats.org/officeDocument/2006/relationships" id="266" r:id="Rb49b80cf8d814f7e"/>
    <p:sldId xmlns:r="http://schemas.openxmlformats.org/officeDocument/2006/relationships" id="267" r:id="R4987b8a81a0b44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eac4a7abe146b3" /><Relationship Type="http://schemas.openxmlformats.org/officeDocument/2006/relationships/slideMaster" Target="/ppt/slideMasters/slideMaster1.xml" Id="Ra51e462fdf704771" /><Relationship Type="http://schemas.openxmlformats.org/officeDocument/2006/relationships/notesMaster" Target="/ppt/notesMasters/notesMaster1.xml" Id="R14d75ebbde2a470d" /><Relationship Type="http://schemas.openxmlformats.org/officeDocument/2006/relationships/presProps" Target="/ppt/presProps.xml" Id="Rfc52485b58734641" /><Relationship Type="http://schemas.openxmlformats.org/officeDocument/2006/relationships/tableStyles" Target="/ppt/tableStyles.xml" Id="R137a17ba8ab4413b" /><Relationship Type="http://schemas.openxmlformats.org/officeDocument/2006/relationships/slide" Target="/ppt/slides/slide1.xml" Id="R3263690a175e4b3e" /><Relationship Type="http://schemas.openxmlformats.org/officeDocument/2006/relationships/slide" Target="/ppt/slides/slide2.xml" Id="Rba1a35df49234ca2" /><Relationship Type="http://schemas.openxmlformats.org/officeDocument/2006/relationships/slide" Target="/ppt/slides/slide3.xml" Id="Rc2f45edc79b24357" /><Relationship Type="http://schemas.openxmlformats.org/officeDocument/2006/relationships/slide" Target="/ppt/slides/slide4.xml" Id="R0291cc2bc3f84f44" /><Relationship Type="http://schemas.openxmlformats.org/officeDocument/2006/relationships/slide" Target="/ppt/slides/slide5.xml" Id="R9a3656aacf334f3d" /><Relationship Type="http://schemas.openxmlformats.org/officeDocument/2006/relationships/slide" Target="/ppt/slides/slide6.xml" Id="R1f75383336a14005" /><Relationship Type="http://schemas.openxmlformats.org/officeDocument/2006/relationships/slide" Target="/ppt/slides/slide7.xml" Id="R9bc5a85671a84e73" /><Relationship Type="http://schemas.openxmlformats.org/officeDocument/2006/relationships/slide" Target="/ppt/slides/slide8.xml" Id="Rb96ec262bb7b4e83" /><Relationship Type="http://schemas.openxmlformats.org/officeDocument/2006/relationships/slide" Target="/ppt/slides/slide9.xml" Id="R922406b2d2014ee9" /><Relationship Type="http://schemas.openxmlformats.org/officeDocument/2006/relationships/slide" Target="/ppt/slides/slide10.xml" Id="R1f53cd0f28024c04" /><Relationship Type="http://schemas.openxmlformats.org/officeDocument/2006/relationships/slide" Target="/ppt/slides/slide11.xml" Id="Rb49b80cf8d814f7e" /><Relationship Type="http://schemas.openxmlformats.org/officeDocument/2006/relationships/slide" Target="/ppt/slides/slide12.xml" Id="R4987b8a81a0b44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9ec016f46b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b9c0243c2a41f1" /><Relationship Type="http://schemas.openxmlformats.org/officeDocument/2006/relationships/notesMaster" Target="/ppt/notesMasters/notesMaster1.xml" Id="R7384624e211243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2716f5dea24247" /><Relationship Type="http://schemas.openxmlformats.org/officeDocument/2006/relationships/notesMaster" Target="/ppt/notesMasters/notesMaster1.xml" Id="R10c25d4932c242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517838b24a4bf4" /><Relationship Type="http://schemas.openxmlformats.org/officeDocument/2006/relationships/notesMaster" Target="/ppt/notesMasters/notesMaster1.xml" Id="R4f2fd8d34281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ca584c712d4945" /><Relationship Type="http://schemas.openxmlformats.org/officeDocument/2006/relationships/notesMaster" Target="/ppt/notesMasters/notesMaster1.xml" Id="Re7018c4c326249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7b09209a24342" /><Relationship Type="http://schemas.openxmlformats.org/officeDocument/2006/relationships/notesMaster" Target="/ppt/notesMasters/notesMaster1.xml" Id="R3a18823b2bf149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02c617d5e94f6f" /><Relationship Type="http://schemas.openxmlformats.org/officeDocument/2006/relationships/notesMaster" Target="/ppt/notesMasters/notesMaster1.xml" Id="R7235a3cefcf846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f813e215534908" /><Relationship Type="http://schemas.openxmlformats.org/officeDocument/2006/relationships/notesMaster" Target="/ppt/notesMasters/notesMaster1.xml" Id="Rcd3c7999e8dd44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2d82e109984369" /><Relationship Type="http://schemas.openxmlformats.org/officeDocument/2006/relationships/notesMaster" Target="/ppt/notesMasters/notesMaster1.xml" Id="R8da61605c45b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404516eb484bcf" /><Relationship Type="http://schemas.openxmlformats.org/officeDocument/2006/relationships/notesMaster" Target="/ppt/notesMasters/notesMaster1.xml" Id="Rc012ac8e51124c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cffd0c7e584a4e" /><Relationship Type="http://schemas.openxmlformats.org/officeDocument/2006/relationships/notesMaster" Target="/ppt/notesMasters/notesMaster1.xml" Id="R68f0c5b3b8794b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fbf956b1204d21" /><Relationship Type="http://schemas.openxmlformats.org/officeDocument/2006/relationships/notesMaster" Target="/ppt/notesMasters/notesMaster1.xml" Id="R9bd255f84ee54c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317fa80333486c" /><Relationship Type="http://schemas.openxmlformats.org/officeDocument/2006/relationships/notesMaster" Target="/ppt/notesMasters/notesMaster1.xml" Id="Rd2f4e182f2bc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align leadership on current chat health and approve a phased reliability plan.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BiDoc repository and read-only runtime telemetry reviewed on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conclusion deliberately separates current health from architectural reliability.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src/agent.js lines 53-312 and 2298-2445.</a:t>
            </a:r>
          </a:p>
          <a:p xmlns:a="http://schemas.openxmlformats.org/drawingml/2006/main">
            <a:r>
              <a:t>- src/chatMemory.js lines 27-131 and 379-405.</a:t>
            </a:r>
          </a:p>
          <a:p xmlns:a="http://schemas.openxmlformats.org/drawingml/2006/main">
            <a:r>
              <a:t>- Read-only runtime telemetry aggregate captured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routes intentionally bypass generic semantic retrieval; mixed routes use both exact anchors and semantic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src/agent.js lines 53-210, 419-1150, and 1518 onward.</a:t>
            </a:r>
          </a:p>
          <a:p xmlns:a="http://schemas.openxmlformats.org/drawingml/2006/main">
            <a:r>
              <a:t>- src/subagents/dataQuery.js classifyDataQueryCapability and runDataQueryAgent.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contains the four actual Main prompt-token values in the sampled window. All four completed with STOP.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Read-only App Supabase aggregate of chat_messages_gf.workflow_log.openRouterUsage.calls and run_events.</a:t>
            </a:r>
          </a:p>
          <a:p xmlns:a="http://schemas.openxmlformats.org/drawingml/2006/main">
            <a:r>
              <a:t>- Sample window: 2026-08-19 18:39 UTC through 2026-08-20 15:02 UTC.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sample confirms healthy memory load/write telemetry, but not explicit previous-session recall because previous_session_recalled was false in all eight runs.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src/chatMemory.js lines 27-131, 308-324, and 379-405.</a:t>
            </a:r>
          </a:p>
          <a:p xmlns:a="http://schemas.openxmlformats.org/drawingml/2006/main">
            <a:r>
              <a:t>- src/agent.js lines 77-180 and 197-210.</a:t>
            </a:r>
          </a:p>
          <a:p xmlns:a="http://schemas.openxmlformats.org/drawingml/2006/main">
            <a:r>
              <a:t>- test/run-tests.js focused memory filter result: 12/12.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code-level risks that remain even when the latest sample is healthy.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src/agent.js lines 2324-2437 and 6020-6042.</a:t>
            </a:r>
          </a:p>
          <a:p xmlns:a="http://schemas.openxmlformats.org/drawingml/2006/main">
            <a:r>
              <a:t>- src/openrouter.js lines 10-112 and 301-339.</a:t>
            </a:r>
          </a:p>
          <a:p xmlns:a="http://schemas.openxmlformats.org/drawingml/2006/main">
            <a:r>
              <a:t>- Read-only runtime metadata for the sampled Data Query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sequencing is dependency-driven: first measure, then prevent incomplete output, then improve quality, then optimize cost and rollout.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docs/main-agent-context-compaction-plan.md.</a:t>
            </a:r>
          </a:p>
          <a:p xmlns:a="http://schemas.openxmlformats.org/drawingml/2006/main">
            <a:r>
              <a:t>- Current repository and runtime audit completed 2026-08-20.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0 does not change production behavior. Phases 1 and 2 should remain separately reviewable and feature-gated.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src/openrouter.js completion and telemetry behavior.</a:t>
            </a:r>
          </a:p>
          <a:p xmlns:a="http://schemas.openxmlformats.org/drawingml/2006/main">
            <a:r>
              <a:t>- src/agent.js Main synthesis payload and retry path.</a:t>
            </a:r>
          </a:p>
          <a:p xmlns:a="http://schemas.openxmlformats.org/drawingml/2006/main">
            <a:r>
              <a:t>- docs/main-agent-context-compaction-plan.md.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numeric targets should be confirmed after Phase 0 baseline measurement; these are recommended initial gates.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src/agent.js routing and retrieval flow.</a:t>
            </a:r>
          </a:p>
          <a:p xmlns:a="http://schemas.openxmlformats.org/drawingml/2006/main">
            <a:r>
              <a:t>- src/chatMemory.js memory controls.</a:t>
            </a:r>
          </a:p>
          <a:p xmlns:a="http://schemas.openxmlformats.org/drawingml/2006/main">
            <a:r>
              <a:t>- test/run-tests.js current routing and memory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gray Content/Tables labels are a UI-state issue, not proof of a failed connection. Runtime logs confirmed active Content and Data Query usage.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src/agent.js buildWorkflowLog and OpenRouter usage aggregation.</a:t>
            </a:r>
          </a:p>
          <a:p xmlns:a="http://schemas.openxmlformats.org/drawingml/2006/main">
            <a:r>
              <a:t>- Current SettingsPage rendering reviewed in the prior connection audit.</a:t>
            </a:r>
          </a:p>
          <a:p xmlns:a="http://schemas.openxmlformats.org/drawingml/2006/main">
            <a:r>
              <a:t>- Active read-only runtime telemetry.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deployment, feature-flag change, or production mutation is authorized by this deck; it defines the approval sequence.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Recommended rollout controls derived from the current architecture and test baseline.</a:t>
            </a:r>
          </a:p>
          <a:p xmlns:a="http://schemas.openxmlformats.org/drawingml/2006/main">
            <a:r>
              <a:t>- Repository-wide result: 542 passed, 13 failed.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close keeps the next action small, testable, read-only against production data, and approval-gated.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audit findings and full improvement plan prepared 2026-08-20.</a:t>
            </a:r>
          </a:p>
          <a:p xmlns:a="http://schemas.openxmlformats.org/drawingml/2006/main">
            <a:r>
              <a:t>- No repository, settings, schema, or production changes were made during the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eadb7c0cf4e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813f4a65b49bf" /><Relationship Type="http://schemas.openxmlformats.org/officeDocument/2006/relationships/slideLayout" Target="/ppt/slideLayouts/slideLayout1.xml" Id="R71fb7ded7bee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b7ded7bee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6eb4754c46d6" /><Relationship Type="http://schemas.openxmlformats.org/officeDocument/2006/relationships/notesSlide" Target="/ppt/notesSlides/notesSlide1.xml" Id="Rd640a74ad77a42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980287b584529" /><Relationship Type="http://schemas.openxmlformats.org/officeDocument/2006/relationships/notesSlide" Target="/ppt/notesSlides/notesSlide2.xml" Id="Rf190de7b01aa40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08351623492b" /><Relationship Type="http://schemas.openxmlformats.org/officeDocument/2006/relationships/notesSlide" Target="/ppt/notesSlides/notesSlide3.xml" Id="R7f063ec846c2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c8c66490941c3" /><Relationship Type="http://schemas.openxmlformats.org/officeDocument/2006/relationships/chart" Target="/ppt/slides/charts/chart1.xml" Id="Rf3eb1cd3a5544dc9" /><Relationship Type="http://schemas.openxmlformats.org/officeDocument/2006/relationships/notesSlide" Target="/ppt/notesSlides/notesSlide4.xml" Id="R3f8e85f461c147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3d78e21964f37" /><Relationship Type="http://schemas.openxmlformats.org/officeDocument/2006/relationships/notesSlide" Target="/ppt/notesSlides/notesSlide5.xml" Id="Rebf215e853404e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66a90a21c4e33" /><Relationship Type="http://schemas.openxmlformats.org/officeDocument/2006/relationships/notesSlide" Target="/ppt/notesSlides/notesSlide6.xml" Id="R1708f5e269ff47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d6a777656414f" /><Relationship Type="http://schemas.openxmlformats.org/officeDocument/2006/relationships/notesSlide" Target="/ppt/notesSlides/notesSlide7.xml" Id="Rfcba60029ce241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7fa8caf5748a2" /><Relationship Type="http://schemas.openxmlformats.org/officeDocument/2006/relationships/notesSlide" Target="/ppt/notesSlides/notesSlide8.xml" Id="Rac705fc2ca5548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fb541c9294b97" /><Relationship Type="http://schemas.openxmlformats.org/officeDocument/2006/relationships/notesSlide" Target="/ppt/notesSlides/notesSlide9.xml" Id="R368bbd3c3735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aefc18b084e78" /><Relationship Type="http://schemas.openxmlformats.org/officeDocument/2006/relationships/notesSlide" Target="/ppt/notesSlides/notesSlide10.xml" Id="R3111ab2c40244a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2c5b241b042e8" /><Relationship Type="http://schemas.openxmlformats.org/officeDocument/2006/relationships/notesSlide" Target="/ppt/notesSlides/notesSlide11.xml" Id="R31fa600d4fce49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5c455c3d5450a" /><Relationship Type="http://schemas.openxmlformats.org/officeDocument/2006/relationships/notesSlide" Target="/ppt/notesSlides/notesSlide12.xml" Id="R66417a9fc38a405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Prompt tokens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Call 1</c:v>
              </c:pt>
              <c:pt idx="1">
                <c:v>Call 2</c:v>
              </c:pt>
              <c:pt idx="2">
                <c:v>Call 3</c:v>
              </c:pt>
              <c:pt idx="3">
                <c:v>Call 4</c:v>
              </c:pt>
            </c:strLit>
          </c:cat>
          <c:val>
            <c:numLit>
              <c:formatCode>General</c:formatCode>
              <c:ptCount val="4"/>
              <c:pt idx="0">
                <c:v>4953</c:v>
              </c:pt>
              <c:pt idx="1">
                <c:v>5464</c:v>
              </c:pt>
              <c:pt idx="2">
                <c:v>11096</c:v>
              </c:pt>
              <c:pt idx="3">
                <c:v>41536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257EA33-D725-44A9-9ED0-A8E9F51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5E9A3565-1E22-4020-B562-13BA229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INTERNAL LEADERSHIP REVIEW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4DB6BA48-5F35-4483-AA3B-0922F056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BiDoc Chat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F4A4FCC-E170-4FF1-9DE5-E760A65A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E2E8F0"/>
                </a:solidFill>
              </a:defRPr>
            </a:pPr>
            <a:r>
              <a:rPr sz="2700" b="0">
                <a:solidFill>
                  <a:srgbClr val="E2E8F0"/>
                </a:solidFill>
              </a:rPr>
              <a:t>Current status and full improvement plan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1C8A70FD-3626-4673-A951-F4FD192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What is healthy now, what remains structurally risky, and how to improve the system without losing control of quality.</a:t>
            </a:r>
          </a:p>
        </p:txBody>
      </p:sp>
      <p:sp>
        <p:nvSpPr>
          <p:cNvPr id="6" name="deck-date">
            <a:extLst xmlns:a="http://schemas.openxmlformats.org/drawingml/2006/main">
              <a:ext uri="{FF2B5EF4-FFF2-40B4-BE49-F238E27FC236}">
                <a16:creationId xmlns:a16="http://schemas.microsoft.com/office/drawing/2014/main" id="{96A68C5C-BBBD-4B5E-8500-BE7DFB65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20 August 2026</a:t>
            </a:r>
          </a:p>
        </p:txBody>
      </p:sp>
      <p:sp>
        <p:nvSpPr>
          <p:cNvPr id="7" name="deck-brand">
            <a:extLst xmlns:a="http://schemas.openxmlformats.org/drawingml/2006/main">
              <a:ext uri="{FF2B5EF4-FFF2-40B4-BE49-F238E27FC236}">
                <a16:creationId xmlns:a16="http://schemas.microsoft.com/office/drawing/2014/main" id="{ACF84E72-4F57-46D3-981D-D1C9099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EAD4"/>
                </a:solidFill>
              </a:defRPr>
            </a:pPr>
            <a:r>
              <a:rPr sz="1500" b="1">
                <a:solidFill>
                  <a:srgbClr val="5EEAD4"/>
                </a:solidFill>
              </a:rPr>
              <a:t>BiDoc</a:t>
            </a:r>
          </a:p>
        </p:txBody>
      </p:sp>
    </p:spTree>
    <p:extLst>
      <p:ext uri="{BB962C8B-B14F-4D97-AF65-F5344CB8AC3E}">
        <p14:creationId xmlns:p14="http://schemas.microsoft.com/office/powerpoint/2010/main" val="2023603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3EECBACA-346D-482E-8739-0A57E925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F0F2F73F-AFDA-4601-849F-B954C91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EXECUTIVE STATUS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295EB488-F8D4-4650-BE3F-F97055FC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Working again, but not yet hardened</a:t>
            </a:r>
          </a:p>
        </p:txBody>
      </p:sp>
      <p:sp>
        <p:nvSpPr>
          <p:cNvPr id="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475F2E7-EC1C-48E5-B05B-EEF8DCCF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5FD146E6-9EDD-489D-8307-1811680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A46113EC-7A62-4D06-ACAB-BE89172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status-thesis">
            <a:extLst xmlns:a="http://schemas.openxmlformats.org/drawingml/2006/main">
              <a:ext uri="{FF2B5EF4-FFF2-40B4-BE49-F238E27FC236}">
                <a16:creationId xmlns:a16="http://schemas.microsoft.com/office/drawing/2014/main" id="{56FBA79E-ED80-4A55-9307-30A9DF6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172A"/>
                </a:solidFill>
              </a:defRPr>
            </a:pPr>
            <a:r>
              <a:rPr sz="2100" b="0">
                <a:solidFill>
                  <a:srgbClr val="0F172A"/>
                </a:solidFill>
              </a:rPr>
              <a:t>The memory incident appears resolved. Current runs are healthy. The architecture still contains failure modes that can recreate poor or partial answers under heavier load.</a:t>
            </a:r>
          </a:p>
        </p:txBody>
      </p:sp>
      <p:sp>
        <p:nvSpPr>
          <p:cNvPr id="8" name="Confirmed now-accent">
            <a:extLst xmlns:a="http://schemas.openxmlformats.org/drawingml/2006/main">
              <a:ext uri="{FF2B5EF4-FFF2-40B4-BE49-F238E27FC236}">
                <a16:creationId xmlns:a16="http://schemas.microsoft.com/office/drawing/2014/main" id="{E6EC0194-D563-4A7E-B947-E614CD6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firmed now-heading">
            <a:extLst xmlns:a="http://schemas.openxmlformats.org/drawingml/2006/main">
              <a:ext uri="{FF2B5EF4-FFF2-40B4-BE49-F238E27FC236}">
                <a16:creationId xmlns:a16="http://schemas.microsoft.com/office/drawing/2014/main" id="{ACA7E486-1FCC-4BE9-983F-2A657FB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Confirmed now</a:t>
            </a:r>
          </a:p>
        </p:txBody>
      </p:sp>
      <p:sp>
        <p:nvSpPr>
          <p:cNvPr id="10" name="Confirmed now-body">
            <a:extLst xmlns:a="http://schemas.openxmlformats.org/drawingml/2006/main">
              <a:ext uri="{FF2B5EF4-FFF2-40B4-BE49-F238E27FC236}">
                <a16:creationId xmlns:a16="http://schemas.microsoft.com/office/drawing/2014/main" id="{AE568833-B0CE-4349-91BE-8DFDFCE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Memory loads and writes complete normally. Semantic retrieval and exact queries are active. Recent Main calls finished without timeout or truncation.</a:t>
            </a:r>
          </a:p>
        </p:txBody>
      </p:sp>
      <p:sp>
        <p:nvSpPr>
          <p:cNvPr id="11" name="Still exposed-accent">
            <a:extLst xmlns:a="http://schemas.openxmlformats.org/drawingml/2006/main">
              <a:ext uri="{FF2B5EF4-FFF2-40B4-BE49-F238E27FC236}">
                <a16:creationId xmlns:a16="http://schemas.microsoft.com/office/drawing/2014/main" id="{BEF56199-1546-49C1-89CE-31FAFCC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ill exposed-heading">
            <a:extLst xmlns:a="http://schemas.openxmlformats.org/drawingml/2006/main">
              <a:ext uri="{FF2B5EF4-FFF2-40B4-BE49-F238E27FC236}">
                <a16:creationId xmlns:a16="http://schemas.microsoft.com/office/drawing/2014/main" id="{BFFFA7F7-CF61-4CC4-9851-D18EC7EC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Still exposed</a:t>
            </a:r>
          </a:p>
        </p:txBody>
      </p:sp>
      <p:sp>
        <p:nvSpPr>
          <p:cNvPr id="13" name="Still exposed-body">
            <a:extLst xmlns:a="http://schemas.openxmlformats.org/drawingml/2006/main">
              <a:ext uri="{FF2B5EF4-FFF2-40B4-BE49-F238E27FC236}">
                <a16:creationId xmlns:a16="http://schemas.microsoft.com/office/drawing/2014/main" id="{AC156145-D9CE-463B-80BE-F9A5B587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Main context can grow sharply, truncation is not enforced as failure, workflow status can be misleading, and Data Query failures lack useful diagnostics.</a:t>
            </a:r>
          </a:p>
        </p:txBody>
      </p:sp>
      <p:sp>
        <p:nvSpPr>
          <p:cNvPr id="14" name="executive-callout">
            <a:extLst xmlns:a="http://schemas.openxmlformats.org/drawingml/2006/main">
              <a:ext uri="{FF2B5EF4-FFF2-40B4-BE49-F238E27FC236}">
                <a16:creationId xmlns:a16="http://schemas.microsoft.com/office/drawing/2014/main" id="{CA20FAD0-ACFD-4042-AD6F-9BE0D69C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3105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executive-callout-title">
            <a:extLst xmlns:a="http://schemas.openxmlformats.org/drawingml/2006/main">
              <a:ext uri="{FF2B5EF4-FFF2-40B4-BE49-F238E27FC236}">
                <a16:creationId xmlns:a16="http://schemas.microsoft.com/office/drawing/2014/main" id="{2352D386-903F-48CB-84A3-295546D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Recommendation</a:t>
            </a:r>
          </a:p>
        </p:txBody>
      </p:sp>
      <p:sp>
        <p:nvSpPr>
          <p:cNvPr id="16" name="executive-callout-body">
            <a:extLst xmlns:a="http://schemas.openxmlformats.org/drawingml/2006/main">
              <a:ext uri="{FF2B5EF4-FFF2-40B4-BE49-F238E27FC236}">
                <a16:creationId xmlns:a16="http://schemas.microsoft.com/office/drawing/2014/main" id="{52FE6D57-4DB0-4E6D-8DC0-73B8B621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Measure first. Harden completion. Compact Main. Then tune models.</a:t>
            </a:r>
          </a:p>
        </p:txBody>
      </p:sp>
    </p:spTree>
    <p:extLst>
      <p:ext uri="{BB962C8B-B14F-4D97-AF65-F5344CB8AC3E}">
        <p14:creationId xmlns:p14="http://schemas.microsoft.com/office/powerpoint/2010/main" val="1417631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2077EE62-636E-4DAB-965A-62F8A737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4521F02F-BB53-4DBB-93F9-3CFFE22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SYSTEM MAP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16807F8-3B22-4AB2-8674-A5A2DC38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Three routes answer three kinds of questions</a:t>
            </a:r>
          </a:p>
        </p:txBody>
      </p:sp>
      <p:sp>
        <p:nvSpPr>
          <p:cNvPr id="4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960260D5-0C5F-4740-AEEB-32D739B0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C84D0DF5-DB37-413B-B02B-BDE7D67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B9732DD-1B77-44F1-B054-CDA2665A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7" name="map-intro">
            <a:extLst xmlns:a="http://schemas.openxmlformats.org/drawingml/2006/main">
              <a:ext uri="{FF2B5EF4-FFF2-40B4-BE49-F238E27FC236}">
                <a16:creationId xmlns:a16="http://schemas.microsoft.com/office/drawing/2014/main" id="{A28E95DB-F49D-4244-AD9E-412B92D1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Every request shares the same intake and memory boundary; answer generation diverges by question capability.</a:t>
            </a:r>
          </a:p>
        </p:txBody>
      </p:sp>
      <p:sp>
        <p:nvSpPr>
          <p:cNvPr id="8" name="intake-strip">
            <a:extLst xmlns:a="http://schemas.openxmlformats.org/drawingml/2006/main">
              <a:ext uri="{FF2B5EF4-FFF2-40B4-BE49-F238E27FC236}">
                <a16:creationId xmlns:a16="http://schemas.microsoft.com/office/drawing/2014/main" id="{78AC7E5F-8F90-4C9D-82D4-5722E1E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9" name="intake-text">
            <a:extLst xmlns:a="http://schemas.openxmlformats.org/drawingml/2006/main">
              <a:ext uri="{FF2B5EF4-FFF2-40B4-BE49-F238E27FC236}">
                <a16:creationId xmlns:a16="http://schemas.microsoft.com/office/drawing/2014/main" id="{C22A8873-1089-44E1-85E2-D4F98B0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Sanitize  →  Routing memory  →  Classifier  →  Agent memory  →  Capability route</a:t>
            </a:r>
          </a:p>
        </p:txBody>
      </p:sp>
      <p:sp>
        <p:nvSpPr>
          <p:cNvPr id="10" name="lane-0">
            <a:extLst xmlns:a="http://schemas.openxmlformats.org/drawingml/2006/main">
              <a:ext uri="{FF2B5EF4-FFF2-40B4-BE49-F238E27FC236}">
                <a16:creationId xmlns:a16="http://schemas.microsoft.com/office/drawing/2014/main" id="{7DBE828C-0926-4F74-9104-A8B925D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lane-accent-0">
            <a:extLst xmlns:a="http://schemas.openxmlformats.org/drawingml/2006/main">
              <a:ext uri="{FF2B5EF4-FFF2-40B4-BE49-F238E27FC236}">
                <a16:creationId xmlns:a16="http://schemas.microsoft.com/office/drawing/2014/main" id="{9161A70F-E616-41DC-8FAE-7F82FC91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ne-label-0">
            <a:extLst xmlns:a="http://schemas.openxmlformats.org/drawingml/2006/main">
              <a:ext uri="{FF2B5EF4-FFF2-40B4-BE49-F238E27FC236}">
                <a16:creationId xmlns:a16="http://schemas.microsoft.com/office/drawing/2014/main" id="{2FA644B7-C5A7-4179-AF5B-5184AB6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CHAT</a:t>
            </a:r>
          </a:p>
        </p:txBody>
      </p:sp>
      <p:sp>
        <p:nvSpPr>
          <p:cNvPr id="13" name="lane-route-0">
            <a:extLst xmlns:a="http://schemas.openxmlformats.org/drawingml/2006/main">
              <a:ext uri="{FF2B5EF4-FFF2-40B4-BE49-F238E27FC236}">
                <a16:creationId xmlns:a16="http://schemas.microsoft.com/office/drawing/2014/main" id="{5892BCA1-EE01-4C24-A9D0-4E92CF9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Lite Agent</a:t>
            </a:r>
          </a:p>
        </p:txBody>
      </p:sp>
      <p:sp>
        <p:nvSpPr>
          <p:cNvPr id="14" name="lane-outcome-0">
            <a:extLst xmlns:a="http://schemas.openxmlformats.org/drawingml/2006/main">
              <a:ext uri="{FF2B5EF4-FFF2-40B4-BE49-F238E27FC236}">
                <a16:creationId xmlns:a16="http://schemas.microsoft.com/office/drawing/2014/main" id="{2BF6F56E-B96E-4691-A20E-52F5667A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575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General conversation; no project retrieval</a:t>
            </a:r>
          </a:p>
        </p:txBody>
      </p:sp>
      <p:sp>
        <p:nvSpPr>
          <p:cNvPr id="15" name="lane-1">
            <a:extLst xmlns:a="http://schemas.openxmlformats.org/drawingml/2006/main">
              <a:ext uri="{FF2B5EF4-FFF2-40B4-BE49-F238E27FC236}">
                <a16:creationId xmlns:a16="http://schemas.microsoft.com/office/drawing/2014/main" id="{89073651-E788-42EC-B595-2351FD37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lane-accent-1">
            <a:extLst xmlns:a="http://schemas.openxmlformats.org/drawingml/2006/main">
              <a:ext uri="{FF2B5EF4-FFF2-40B4-BE49-F238E27FC236}">
                <a16:creationId xmlns:a16="http://schemas.microsoft.com/office/drawing/2014/main" id="{832E778B-1A2E-4008-B5F9-D7CBEE0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ane-label-1">
            <a:extLst xmlns:a="http://schemas.openxmlformats.org/drawingml/2006/main">
              <a:ext uri="{FF2B5EF4-FFF2-40B4-BE49-F238E27FC236}">
                <a16:creationId xmlns:a16="http://schemas.microsoft.com/office/drawing/2014/main" id="{C54E2921-C61B-4385-B04C-3CDADE1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803D"/>
                </a:solidFill>
              </a:defRPr>
            </a:pPr>
            <a:r>
              <a:rPr sz="1575" b="1">
                <a:solidFill>
                  <a:srgbClr val="15803D"/>
                </a:solidFill>
              </a:rPr>
              <a:t>EXACT</a:t>
            </a:r>
          </a:p>
        </p:txBody>
      </p:sp>
      <p:sp>
        <p:nvSpPr>
          <p:cNvPr id="18" name="lane-route-1">
            <a:extLst xmlns:a="http://schemas.openxmlformats.org/drawingml/2006/main">
              <a:ext uri="{FF2B5EF4-FFF2-40B4-BE49-F238E27FC236}">
                <a16:creationId xmlns:a16="http://schemas.microsoft.com/office/drawing/2014/main" id="{E9D14E6B-D2E5-404A-9A3A-94680C2D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62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Typed Data Query</a:t>
            </a:r>
          </a:p>
        </p:txBody>
      </p:sp>
      <p:sp>
        <p:nvSpPr>
          <p:cNvPr id="19" name="lane-outcome-1">
            <a:extLst xmlns:a="http://schemas.openxmlformats.org/drawingml/2006/main">
              <a:ext uri="{FF2B5EF4-FFF2-40B4-BE49-F238E27FC236}">
                <a16:creationId xmlns:a16="http://schemas.microsoft.com/office/drawing/2014/main" id="{9AFB1452-0F0C-4352-8370-E134A5EF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71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Deterministic count, date, status, or lookup</a:t>
            </a:r>
          </a:p>
        </p:txBody>
      </p:sp>
      <p:sp>
        <p:nvSpPr>
          <p:cNvPr id="20" name="lane-2">
            <a:extLst xmlns:a="http://schemas.openxmlformats.org/drawingml/2006/main">
              <a:ext uri="{FF2B5EF4-FFF2-40B4-BE49-F238E27FC236}">
                <a16:creationId xmlns:a16="http://schemas.microsoft.com/office/drawing/2014/main" id="{C21A85C7-F084-40EB-AAF2-F8F52F2A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lane-accent-2">
            <a:extLst xmlns:a="http://schemas.openxmlformats.org/drawingml/2006/main">
              <a:ext uri="{FF2B5EF4-FFF2-40B4-BE49-F238E27FC236}">
                <a16:creationId xmlns:a16="http://schemas.microsoft.com/office/drawing/2014/main" id="{9C76CC76-1365-44A5-8073-4A8E14F0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ne-label-2">
            <a:extLst xmlns:a="http://schemas.openxmlformats.org/drawingml/2006/main">
              <a:ext uri="{FF2B5EF4-FFF2-40B4-BE49-F238E27FC236}">
                <a16:creationId xmlns:a16="http://schemas.microsoft.com/office/drawing/2014/main" id="{D300B620-BE29-427D-ACD7-2023D3A8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SEMANTIC / MIXED</a:t>
            </a:r>
          </a:p>
        </p:txBody>
      </p:sp>
      <p:sp>
        <p:nvSpPr>
          <p:cNvPr id="23" name="lane-route-2">
            <a:extLst xmlns:a="http://schemas.openxmlformats.org/drawingml/2006/main">
              <a:ext uri="{FF2B5EF4-FFF2-40B4-BE49-F238E27FC236}">
                <a16:creationId xmlns:a16="http://schemas.microsoft.com/office/drawing/2014/main" id="{B001176B-013C-45DE-9984-6B7B66F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76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Hybrid → Graph → Reranker → Tools → Main</a:t>
            </a:r>
          </a:p>
        </p:txBody>
      </p:sp>
      <p:sp>
        <p:nvSpPr>
          <p:cNvPr id="24" name="lane-outcome-2">
            <a:extLst xmlns:a="http://schemas.openxmlformats.org/drawingml/2006/main">
              <a:ext uri="{FF2B5EF4-FFF2-40B4-BE49-F238E27FC236}">
                <a16:creationId xmlns:a16="http://schemas.microsoft.com/office/drawing/2014/main" id="{43FF2C92-7A22-4F4F-8727-BA21D13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863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Grounded explanation, synthesis, or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229101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2BD3E926-5684-48A4-BE19-7EE07D49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BFC9FDBE-9BF9-4637-977D-5C3E194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RUNTIME EVIDENCE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D37BF136-F826-4129-80CC-B2C5C39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Healthy signals, small sample</a:t>
            </a:r>
          </a:p>
        </p:txBody>
      </p:sp>
      <p:sp>
        <p:nvSpPr>
          <p:cNvPr id="4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155E3AE5-24BB-4ED3-9A31-B1279E73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808E73F3-A2F1-476C-9B07-D0BFAAE2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2ED5A82F-75FF-4083-8258-49BD4FB6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metric-8">
            <a:extLst xmlns:a="http://schemas.openxmlformats.org/drawingml/2006/main">
              <a:ext uri="{FF2B5EF4-FFF2-40B4-BE49-F238E27FC236}">
                <a16:creationId xmlns:a16="http://schemas.microsoft.com/office/drawing/2014/main" id="{52F136DC-4C34-41B4-B59A-860EF23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8" name="metric-8-label">
            <a:extLst xmlns:a="http://schemas.openxmlformats.org/drawingml/2006/main">
              <a:ext uri="{FF2B5EF4-FFF2-40B4-BE49-F238E27FC236}">
                <a16:creationId xmlns:a16="http://schemas.microsoft.com/office/drawing/2014/main" id="{170FCB4A-31F3-4919-9C37-24DDC4D2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completed post-fix chats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7 RAG · 1 Lite</a:t>
            </a:r>
          </a:p>
        </p:txBody>
      </p:sp>
      <p:sp>
        <p:nvSpPr>
          <p:cNvPr id="9" name="metric-sep-1">
            <a:extLst xmlns:a="http://schemas.openxmlformats.org/drawingml/2006/main">
              <a:ext uri="{FF2B5EF4-FFF2-40B4-BE49-F238E27FC236}">
                <a16:creationId xmlns:a16="http://schemas.microsoft.com/office/drawing/2014/main" id="{C54DCB2D-ECA8-414F-92C1-B3E2D58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049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metric-0a">
            <a:extLst xmlns:a="http://schemas.openxmlformats.org/drawingml/2006/main">
              <a:ext uri="{FF2B5EF4-FFF2-40B4-BE49-F238E27FC236}">
                <a16:creationId xmlns:a16="http://schemas.microsoft.com/office/drawing/2014/main" id="{29AB1146-4D74-4365-8D7F-79B6F003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66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5803D"/>
                </a:solidFill>
              </a:defRPr>
            </a:pPr>
            <a:r>
              <a:rPr sz="510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1" name="metric-0a-label">
            <a:extLst xmlns:a="http://schemas.openxmlformats.org/drawingml/2006/main">
              <a:ext uri="{FF2B5EF4-FFF2-40B4-BE49-F238E27FC236}">
                <a16:creationId xmlns:a16="http://schemas.microsoft.com/office/drawing/2014/main" id="{12DC9492-9649-45B6-9114-11A740E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memory failures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load or write</a:t>
            </a:r>
          </a:p>
        </p:txBody>
      </p:sp>
      <p:sp>
        <p:nvSpPr>
          <p:cNvPr id="12" name="metric-sep-2">
            <a:extLst xmlns:a="http://schemas.openxmlformats.org/drawingml/2006/main">
              <a:ext uri="{FF2B5EF4-FFF2-40B4-BE49-F238E27FC236}">
                <a16:creationId xmlns:a16="http://schemas.microsoft.com/office/drawing/2014/main" id="{426B880F-2D25-43C4-98DB-5EF7B3FC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49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metric-0b">
            <a:extLst xmlns:a="http://schemas.openxmlformats.org/drawingml/2006/main">
              <a:ext uri="{FF2B5EF4-FFF2-40B4-BE49-F238E27FC236}">
                <a16:creationId xmlns:a16="http://schemas.microsoft.com/office/drawing/2014/main" id="{2A46F083-7183-4715-86DD-863AF58E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66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5803D"/>
                </a:solidFill>
              </a:defRPr>
            </a:pPr>
            <a:r>
              <a:rPr sz="5100" b="1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14" name="metric-0b-label">
            <a:extLst xmlns:a="http://schemas.openxmlformats.org/drawingml/2006/main">
              <a:ext uri="{FF2B5EF4-FFF2-40B4-BE49-F238E27FC236}">
                <a16:creationId xmlns:a16="http://schemas.microsoft.com/office/drawing/2014/main" id="{92778F41-ED4E-4387-933A-F85DC8EA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Main timeouts or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truncated completions</a:t>
            </a:r>
          </a:p>
        </p:txBody>
      </p:sp>
      <p:sp>
        <p:nvSpPr>
          <p:cNvPr id="15" name="metric-sep-3">
            <a:extLst xmlns:a="http://schemas.openxmlformats.org/drawingml/2006/main">
              <a:ext uri="{FF2B5EF4-FFF2-40B4-BE49-F238E27FC236}">
                <a16:creationId xmlns:a16="http://schemas.microsoft.com/office/drawing/2014/main" id="{D25E8FDB-D5C0-4106-A011-D27403D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0495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metric-dq">
            <a:extLst xmlns:a="http://schemas.openxmlformats.org/drawingml/2006/main">
              <a:ext uri="{FF2B5EF4-FFF2-40B4-BE49-F238E27FC236}">
                <a16:creationId xmlns:a16="http://schemas.microsoft.com/office/drawing/2014/main" id="{39B3A040-8F0F-4198-B495-E2166B8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621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45309"/>
                </a:solidFill>
              </a:defRPr>
            </a:pPr>
            <a:r>
              <a:rPr sz="3600" b="1">
                <a:solidFill>
                  <a:srgbClr val="B45309"/>
                </a:solidFill>
              </a:rPr>
              <a:t>3 + 1</a:t>
            </a:r>
          </a:p>
        </p:txBody>
      </p:sp>
      <p:sp>
        <p:nvSpPr>
          <p:cNvPr id="17" name="metric-dq-label">
            <a:extLst xmlns:a="http://schemas.openxmlformats.org/drawingml/2006/main">
              <a:ext uri="{FF2B5EF4-FFF2-40B4-BE49-F238E27FC236}">
                <a16:creationId xmlns:a16="http://schemas.microsoft.com/office/drawing/2014/main" id="{8F0E3AB5-FE5A-485A-A59E-90EF4F6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717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exact-query successes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+ one earlier failure</a:t>
            </a:r>
          </a:p>
        </p:txBody>
      </p:sp>
      <p:sp>
        <p:nvSpPr>
          <p:cNvPr id="18" name="chart-title">
            <a:extLst xmlns:a="http://schemas.openxmlformats.org/drawingml/2006/main">
              <a:ext uri="{FF2B5EF4-FFF2-40B4-BE49-F238E27FC236}">
                <a16:creationId xmlns:a16="http://schemas.microsoft.com/office/drawing/2014/main" id="{E98B0305-2D39-473F-B2E9-5A0F3E00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Main prompt tokens varied 8× across four model calls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85800" y="3562350"/>
          <a:ext xmlns:a="http://schemas.openxmlformats.org/drawingml/2006/main" cx="7239000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eb1cd3a5544dc9"/>
          </a:graphicData>
        </a:graphic>
      </p:graphicFrame>
      <p:sp>
        <p:nvSpPr>
          <p:cNvPr id="20" name="sample-warning">
            <a:extLst xmlns:a="http://schemas.openxmlformats.org/drawingml/2006/main">
              <a:ext uri="{FF2B5EF4-FFF2-40B4-BE49-F238E27FC236}">
                <a16:creationId xmlns:a16="http://schemas.microsoft.com/office/drawing/2014/main" id="{3C66990B-4D72-466D-8AC3-5DE6E6C3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30861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21" name="sample-warning-title">
            <a:extLst xmlns:a="http://schemas.openxmlformats.org/drawingml/2006/main">
              <a:ext uri="{FF2B5EF4-FFF2-40B4-BE49-F238E27FC236}">
                <a16:creationId xmlns:a16="http://schemas.microsoft.com/office/drawing/2014/main" id="{C69BB2D0-D9B8-4437-B32B-6B4B012D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Interpretation</a:t>
            </a:r>
          </a:p>
        </p:txBody>
      </p:sp>
      <p:sp>
        <p:nvSpPr>
          <p:cNvPr id="22" name="sample-warning-body">
            <a:extLst xmlns:a="http://schemas.openxmlformats.org/drawingml/2006/main">
              <a:ext uri="{FF2B5EF4-FFF2-40B4-BE49-F238E27FC236}">
                <a16:creationId xmlns:a16="http://schemas.microsoft.com/office/drawing/2014/main" id="{D4139E4E-6503-4204-96DF-253096C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95750"/>
            <a:ext cx="2476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The system is currently healthy, but eight runs are not enough to prove reliability. The 41.5K-token request shows that payload growth remains real.</a:t>
            </a:r>
          </a:p>
        </p:txBody>
      </p:sp>
    </p:spTree>
    <p:extLst>
      <p:ext uri="{BB962C8B-B14F-4D97-AF65-F5344CB8AC3E}">
        <p14:creationId xmlns:p14="http://schemas.microsoft.com/office/powerpoint/2010/main" val="1141328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829D45D7-AC3A-4CDD-B06D-2CD2AE61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BB5559D6-2FC2-4041-80B9-8DD10467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MEMORY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2141FB00-2EFE-4A57-A36F-2762F4C7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Memory now recalls with clear boundaries</a:t>
            </a:r>
          </a:p>
        </p:txBody>
      </p:sp>
      <p:sp>
        <p:nvSpPr>
          <p:cNvPr id="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FB313021-AC6D-47AB-A751-4520C611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AEAD7824-45E0-43EF-8A5B-48524FE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67C3DF67-A015-4CDC-8429-5961A57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What changed-accent">
            <a:extLst xmlns:a="http://schemas.openxmlformats.org/drawingml/2006/main">
              <a:ext uri="{FF2B5EF4-FFF2-40B4-BE49-F238E27FC236}">
                <a16:creationId xmlns:a16="http://schemas.microsoft.com/office/drawing/2014/main" id="{B97B9B6B-7D59-41AC-9B4E-FEC6AB16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hat changed-heading">
            <a:extLst xmlns:a="http://schemas.openxmlformats.org/drawingml/2006/main">
              <a:ext uri="{FF2B5EF4-FFF2-40B4-BE49-F238E27FC236}">
                <a16:creationId xmlns:a16="http://schemas.microsoft.com/office/drawing/2014/main" id="{C4A33D79-24A2-44FF-80ED-6B11A50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What changed</a:t>
            </a:r>
          </a:p>
        </p:txBody>
      </p:sp>
      <p:sp>
        <p:nvSpPr>
          <p:cNvPr id="9" name="What changed-body">
            <a:extLst xmlns:a="http://schemas.openxmlformats.org/drawingml/2006/main">
              <a:ext uri="{FF2B5EF4-FFF2-40B4-BE49-F238E27FC236}">
                <a16:creationId xmlns:a16="http://schemas.microsoft.com/office/drawing/2014/main" id="{4B7FD112-BF33-4528-9511-4D1642F1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762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Previous-session recall requires an authenticated user.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It activates only on an explicit recall request.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The recalled summary is labeled as conversational context—not project evidence.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Memory errors fail open so the answer still proceeds.</a:t>
            </a:r>
          </a:p>
        </p:txBody>
      </p:sp>
      <p:sp>
        <p:nvSpPr>
          <p:cNvPr id="10" name="What still needs proof-accent">
            <a:extLst xmlns:a="http://schemas.openxmlformats.org/drawingml/2006/main">
              <a:ext uri="{FF2B5EF4-FFF2-40B4-BE49-F238E27FC236}">
                <a16:creationId xmlns:a16="http://schemas.microsoft.com/office/drawing/2014/main" id="{86F92AF4-F2FD-42F1-9900-F79D3BD9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hat still needs proof-heading">
            <a:extLst xmlns:a="http://schemas.openxmlformats.org/drawingml/2006/main">
              <a:ext uri="{FF2B5EF4-FFF2-40B4-BE49-F238E27FC236}">
                <a16:creationId xmlns:a16="http://schemas.microsoft.com/office/drawing/2014/main" id="{6FB17EDF-882D-4339-97C6-D9D96378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What still needs proof</a:t>
            </a:r>
          </a:p>
        </p:txBody>
      </p:sp>
      <p:sp>
        <p:nvSpPr>
          <p:cNvPr id="12" name="What still needs proof-body">
            <a:extLst xmlns:a="http://schemas.openxmlformats.org/drawingml/2006/main">
              <a:ext uri="{FF2B5EF4-FFF2-40B4-BE49-F238E27FC236}">
                <a16:creationId xmlns:a16="http://schemas.microsoft.com/office/drawing/2014/main" id="{C4A0A06A-9171-41D9-80ED-3DCDE85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4762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No sampled live request exercised explicit previous-session recall.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User isolation, stale memory, corrections, and deletion need end-to-end tests.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Hebrew and English token estimation should be calibrated against actual model usage.</a:t>
            </a:r>
          </a:p>
        </p:txBody>
      </p:sp>
      <p:sp>
        <p:nvSpPr>
          <p:cNvPr id="13" name="memory-test-strip">
            <a:extLst xmlns:a="http://schemas.openxmlformats.org/drawingml/2006/main">
              <a:ext uri="{FF2B5EF4-FFF2-40B4-BE49-F238E27FC236}">
                <a16:creationId xmlns:a16="http://schemas.microsoft.com/office/drawing/2014/main" id="{AF3DF5D2-59FF-448A-81AE-F2E86C2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363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4" name="memory-test-text">
            <a:extLst xmlns:a="http://schemas.openxmlformats.org/drawingml/2006/main">
              <a:ext uri="{FF2B5EF4-FFF2-40B4-BE49-F238E27FC236}">
                <a16:creationId xmlns:a16="http://schemas.microsoft.com/office/drawing/2014/main" id="{1823FD3A-1431-4338-9526-F52B027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975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803D"/>
                </a:solidFill>
              </a:defRPr>
            </a:pPr>
            <a:r>
              <a:rPr sz="1875" b="1">
                <a:solidFill>
                  <a:srgbClr val="15803D"/>
                </a:solidFill>
              </a:rPr>
              <a:t>Current automated result: 12 / 12 focused memory tests passed</a:t>
            </a:r>
          </a:p>
        </p:txBody>
      </p:sp>
    </p:spTree>
    <p:extLst>
      <p:ext uri="{BB962C8B-B14F-4D97-AF65-F5344CB8AC3E}">
        <p14:creationId xmlns:p14="http://schemas.microsoft.com/office/powerpoint/2010/main" val="1772349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F1675C3B-F06E-4C6A-B335-F2009EE2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1DA7794E-07EF-4703-8BBB-DBAE5201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RISK CONCENTRATION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253EA61-7FD7-4CF2-B6C5-51BB644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The remaining risks sit after retrieval</a:t>
            </a:r>
          </a:p>
        </p:txBody>
      </p:sp>
      <p:sp>
        <p:nvSpPr>
          <p:cNvPr id="4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A3B06B8A-CE7B-4316-A5EC-E74506C0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95C741B0-2CF1-4E2C-8E20-06DB75A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2FD7FD48-73A0-4BCE-BF13-D97D6D6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risk-accent-0">
            <a:extLst xmlns:a="http://schemas.openxmlformats.org/drawingml/2006/main">
              <a:ext uri="{FF2B5EF4-FFF2-40B4-BE49-F238E27FC236}">
                <a16:creationId xmlns:a16="http://schemas.microsoft.com/office/drawing/2014/main" id="{F16AAF4D-0034-4D3B-B455-F4E71E5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CF9D9049-B391-43D8-89A0-C27CE7E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Oversized Main payload</a:t>
            </a:r>
          </a:p>
        </p:txBody>
      </p:sp>
      <p:sp>
        <p:nvSpPr>
          <p:cNvPr id="9" name="risk-desc-0">
            <a:extLst xmlns:a="http://schemas.openxmlformats.org/drawingml/2006/main">
              <a:ext uri="{FF2B5EF4-FFF2-40B4-BE49-F238E27FC236}">
                <a16:creationId xmlns:a16="http://schemas.microsoft.com/office/drawing/2014/main" id="{5B6CDC84-A86A-4703-B087-81EB772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04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Bounded context is sent alongside full raw retrieval, graph, tool, source, plan, and memory objects.</a:t>
            </a:r>
          </a:p>
        </p:txBody>
      </p:sp>
      <p:sp>
        <p:nvSpPr>
          <p:cNvPr id="10" name="risk-impact-0">
            <a:extLst xmlns:a="http://schemas.openxmlformats.org/drawingml/2006/main">
              <a:ext uri="{FF2B5EF4-FFF2-40B4-BE49-F238E27FC236}">
                <a16:creationId xmlns:a16="http://schemas.microsoft.com/office/drawing/2014/main" id="{6ED72ED6-445E-4285-90D7-436E3E5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1C1C"/>
                </a:solidFill>
              </a:defRPr>
            </a:pPr>
            <a:r>
              <a:rPr sz="1425" b="1">
                <a:solidFill>
                  <a:srgbClr val="B91C1C"/>
                </a:solidFill>
              </a:rPr>
              <a:t>Cost, latency, and timeout risk rise with broader questions.</a:t>
            </a:r>
          </a:p>
        </p:txBody>
      </p:sp>
      <p:sp>
        <p:nvSpPr>
          <p:cNvPr id="11" name="risk-line-0">
            <a:extLst xmlns:a="http://schemas.openxmlformats.org/drawingml/2006/main">
              <a:ext uri="{FF2B5EF4-FFF2-40B4-BE49-F238E27FC236}">
                <a16:creationId xmlns:a16="http://schemas.microsoft.com/office/drawing/2014/main" id="{791ABBBD-58D7-4384-9275-B7DDADA9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isk-accent-1">
            <a:extLst xmlns:a="http://schemas.openxmlformats.org/drawingml/2006/main">
              <a:ext uri="{FF2B5EF4-FFF2-40B4-BE49-F238E27FC236}">
                <a16:creationId xmlns:a16="http://schemas.microsoft.com/office/drawing/2014/main" id="{AEF3FF4A-FB35-492D-8362-A7844D2A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2559610E-8D6F-4495-8DC9-8E22AF55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Truncation is not enforced</a:t>
            </a:r>
          </a:p>
        </p:txBody>
      </p:sp>
      <p:sp>
        <p:nvSpPr>
          <p:cNvPr id="14" name="risk-desc-1">
            <a:extLst xmlns:a="http://schemas.openxmlformats.org/drawingml/2006/main">
              <a:ext uri="{FF2B5EF4-FFF2-40B4-BE49-F238E27FC236}">
                <a16:creationId xmlns:a16="http://schemas.microsoft.com/office/drawing/2014/main" id="{74A2F328-51EF-431D-BBA3-99984B05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098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Completion telemetry records length/MAX_TOKENS, but synthesis accepts any non-empty answer string.</a:t>
            </a:r>
          </a:p>
        </p:txBody>
      </p:sp>
      <p:sp>
        <p:nvSpPr>
          <p:cNvPr id="15" name="risk-impact-1">
            <a:extLst xmlns:a="http://schemas.openxmlformats.org/drawingml/2006/main">
              <a:ext uri="{FF2B5EF4-FFF2-40B4-BE49-F238E27FC236}">
                <a16:creationId xmlns:a16="http://schemas.microsoft.com/office/drawing/2014/main" id="{BED45DA4-D6B3-4125-A86C-ADB87462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1C1C"/>
                </a:solidFill>
              </a:defRPr>
            </a:pPr>
            <a:r>
              <a:rPr sz="1425" b="1">
                <a:solidFill>
                  <a:srgbClr val="B91C1C"/>
                </a:solidFill>
              </a:rPr>
              <a:t>A partial answer can appear successful.</a:t>
            </a:r>
          </a:p>
        </p:txBody>
      </p:sp>
      <p:sp>
        <p:nvSpPr>
          <p:cNvPr id="16" name="risk-line-1">
            <a:extLst xmlns:a="http://schemas.openxmlformats.org/drawingml/2006/main">
              <a:ext uri="{FF2B5EF4-FFF2-40B4-BE49-F238E27FC236}">
                <a16:creationId xmlns:a16="http://schemas.microsoft.com/office/drawing/2014/main" id="{7BB59388-1553-41EA-899F-C5470DEB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risk-accent-2">
            <a:extLst xmlns:a="http://schemas.openxmlformats.org/drawingml/2006/main">
              <a:ext uri="{FF2B5EF4-FFF2-40B4-BE49-F238E27FC236}">
                <a16:creationId xmlns:a16="http://schemas.microsoft.com/office/drawing/2014/main" id="{2754E47F-DF8C-4D9A-B131-136254C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8905FF4A-C336-4901-BB04-37DD844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Workflow status is optimistic</a:t>
            </a:r>
          </a:p>
        </p:txBody>
      </p:sp>
      <p:sp>
        <p:nvSpPr>
          <p:cNvPr id="19" name="risk-desc-2">
            <a:extLst xmlns:a="http://schemas.openxmlformats.org/drawingml/2006/main">
              <a:ext uri="{FF2B5EF4-FFF2-40B4-BE49-F238E27FC236}">
                <a16:creationId xmlns:a16="http://schemas.microsoft.com/office/drawing/2014/main" id="{CF39F53C-DBF7-434B-B97C-8E621E94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14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Main is always shown as done; conflicts are shown as errors even when they are warnings.</a:t>
            </a:r>
          </a:p>
        </p:txBody>
      </p:sp>
      <p:sp>
        <p:nvSpPr>
          <p:cNvPr id="20" name="risk-impact-2">
            <a:extLst xmlns:a="http://schemas.openxmlformats.org/drawingml/2006/main">
              <a:ext uri="{FF2B5EF4-FFF2-40B4-BE49-F238E27FC236}">
                <a16:creationId xmlns:a16="http://schemas.microsoft.com/office/drawing/2014/main" id="{CE21F517-DEB0-4F78-90AF-78A5A92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Operators can misdiagnose the failing stage.</a:t>
            </a:r>
          </a:p>
        </p:txBody>
      </p:sp>
      <p:sp>
        <p:nvSpPr>
          <p:cNvPr id="21" name="risk-line-2">
            <a:extLst xmlns:a="http://schemas.openxmlformats.org/drawingml/2006/main">
              <a:ext uri="{FF2B5EF4-FFF2-40B4-BE49-F238E27FC236}">
                <a16:creationId xmlns:a16="http://schemas.microsoft.com/office/drawing/2014/main" id="{76DEC0E0-AD4F-4E59-9CA7-DC74A15F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risk-accent-3">
            <a:extLst xmlns:a="http://schemas.openxmlformats.org/drawingml/2006/main">
              <a:ext uri="{FF2B5EF4-FFF2-40B4-BE49-F238E27FC236}">
                <a16:creationId xmlns:a16="http://schemas.microsoft.com/office/drawing/2014/main" id="{4023DCB6-7883-4FA4-BDCF-49C89135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isk-title-3">
            <a:extLst xmlns:a="http://schemas.openxmlformats.org/drawingml/2006/main">
              <a:ext uri="{FF2B5EF4-FFF2-40B4-BE49-F238E27FC236}">
                <a16:creationId xmlns:a16="http://schemas.microsoft.com/office/drawing/2014/main" id="{77A88E3B-B693-49AD-B589-64590B02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Data Query failure is opaque</a:t>
            </a:r>
          </a:p>
        </p:txBody>
      </p:sp>
      <p:sp>
        <p:nvSpPr>
          <p:cNvPr id="24" name="risk-desc-3">
            <a:extLst xmlns:a="http://schemas.openxmlformats.org/drawingml/2006/main">
              <a:ext uri="{FF2B5EF4-FFF2-40B4-BE49-F238E27FC236}">
                <a16:creationId xmlns:a16="http://schemas.microsoft.com/office/drawing/2014/main" id="{9B8AC802-B7B5-4D57-A3C8-74E8F63E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196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One sampled exact route exposed only data_query_failed while semantic retrieval remained intentionally skipped.</a:t>
            </a:r>
          </a:p>
        </p:txBody>
      </p:sp>
      <p:sp>
        <p:nvSpPr>
          <p:cNvPr id="25" name="risk-impact-3">
            <a:extLst xmlns:a="http://schemas.openxmlformats.org/drawingml/2006/main">
              <a:ext uri="{FF2B5EF4-FFF2-40B4-BE49-F238E27FC236}">
                <a16:creationId xmlns:a16="http://schemas.microsoft.com/office/drawing/2014/main" id="{41A651B6-D8F4-4184-9EA7-25A63BA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96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</a:defRPr>
            </a:pPr>
            <a:r>
              <a:rPr sz="1425" b="1">
                <a:solidFill>
                  <a:srgbClr val="B45309"/>
                </a:solidFill>
              </a:rPr>
              <a:t>The system may continue without enough evidence or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12805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BF77A16F-A776-4E58-BFCB-711F5675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856C971B-E77E-4A2A-9390-D0BCB240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IMPROVEMENT STRATEGY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453579A-D049-4635-97E6-8B4E443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Four waves turn recovery into reliability</a:t>
            </a:r>
          </a:p>
        </p:txBody>
      </p:sp>
      <p:sp>
        <p:nvSpPr>
          <p:cNvPr id="4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77FC6395-8FFC-4543-923D-C8F612BD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6BD18E9E-A5D4-44A2-B515-364E9D16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646F162F-4EAF-4457-B79C-40DB422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7" name="wave-line">
            <a:extLst xmlns:a="http://schemas.openxmlformats.org/drawingml/2006/main">
              <a:ext uri="{FF2B5EF4-FFF2-40B4-BE49-F238E27FC236}">
                <a16:creationId xmlns:a16="http://schemas.microsoft.com/office/drawing/2014/main" id="{DD60E5B9-CB00-45A8-8961-6A4F46C2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  <a:prstDash val="solid"/>
          </a:ln>
        </p:spPr>
      </p:sp>
      <p:sp>
        <p:nvSpPr>
          <p:cNvPr id="8" name="wave-node-0">
            <a:extLst xmlns:a="http://schemas.openxmlformats.org/drawingml/2006/main">
              <a:ext uri="{FF2B5EF4-FFF2-40B4-BE49-F238E27FC236}">
                <a16:creationId xmlns:a16="http://schemas.microsoft.com/office/drawing/2014/main" id="{1DCC6DED-2D25-4400-A88C-3F6CFAFF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9" name="wave-number-0">
            <a:extLst xmlns:a="http://schemas.openxmlformats.org/drawingml/2006/main">
              <a:ext uri="{FF2B5EF4-FFF2-40B4-BE49-F238E27FC236}">
                <a16:creationId xmlns:a16="http://schemas.microsoft.com/office/drawing/2014/main" id="{6EB7DD8A-A4AF-400A-A4C0-ADD4AD1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wave-title-0">
            <a:extLst xmlns:a="http://schemas.openxmlformats.org/drawingml/2006/main">
              <a:ext uri="{FF2B5EF4-FFF2-40B4-BE49-F238E27FC236}">
                <a16:creationId xmlns:a16="http://schemas.microsoft.com/office/drawing/2014/main" id="{1E77625E-DF2A-4471-9FF4-1005FF1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Establish truth</a:t>
            </a:r>
          </a:p>
        </p:txBody>
      </p:sp>
      <p:sp>
        <p:nvSpPr>
          <p:cNvPr id="11" name="wave-body-0">
            <a:extLst xmlns:a="http://schemas.openxmlformats.org/drawingml/2006/main">
              <a:ext uri="{FF2B5EF4-FFF2-40B4-BE49-F238E27FC236}">
                <a16:creationId xmlns:a16="http://schemas.microsoft.com/office/drawing/2014/main" id="{9161AA26-C53B-4A34-BC54-EEB03A1A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Baseline evaluation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Completion integrity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Main compaction</a:t>
            </a:r>
          </a:p>
        </p:txBody>
      </p:sp>
      <p:sp>
        <p:nvSpPr>
          <p:cNvPr id="12" name="wave-phases-0">
            <a:extLst xmlns:a="http://schemas.openxmlformats.org/drawingml/2006/main">
              <a:ext uri="{FF2B5EF4-FFF2-40B4-BE49-F238E27FC236}">
                <a16:creationId xmlns:a16="http://schemas.microsoft.com/office/drawing/2014/main" id="{496D8331-63F7-441F-9FB1-0F41B3D5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Phases 0–2</a:t>
            </a:r>
          </a:p>
        </p:txBody>
      </p:sp>
      <p:sp>
        <p:nvSpPr>
          <p:cNvPr id="13" name="wave-node-1">
            <a:extLst xmlns:a="http://schemas.openxmlformats.org/drawingml/2006/main">
              <a:ext uri="{FF2B5EF4-FFF2-40B4-BE49-F238E27FC236}">
                <a16:creationId xmlns:a16="http://schemas.microsoft.com/office/drawing/2014/main" id="{BADB83F0-2846-4BB1-AC03-24DB4051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wave-number-1">
            <a:extLst xmlns:a="http://schemas.openxmlformats.org/drawingml/2006/main">
              <a:ext uri="{FF2B5EF4-FFF2-40B4-BE49-F238E27FC236}">
                <a16:creationId xmlns:a16="http://schemas.microsoft.com/office/drawing/2014/main" id="{C89B469C-17E7-4B47-A9E1-9D680EA6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574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wave-title-1">
            <a:extLst xmlns:a="http://schemas.openxmlformats.org/drawingml/2006/main">
              <a:ext uri="{FF2B5EF4-FFF2-40B4-BE49-F238E27FC236}">
                <a16:creationId xmlns:a16="http://schemas.microsoft.com/office/drawing/2014/main" id="{A0EE0E79-4EE1-4098-B7FB-860E176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Improve quality</a:t>
            </a:r>
          </a:p>
        </p:txBody>
      </p:sp>
      <p:sp>
        <p:nvSpPr>
          <p:cNvPr id="16" name="wave-body-1">
            <a:extLst xmlns:a="http://schemas.openxmlformats.org/drawingml/2006/main">
              <a:ext uri="{FF2B5EF4-FFF2-40B4-BE49-F238E27FC236}">
                <a16:creationId xmlns:a16="http://schemas.microsoft.com/office/drawing/2014/main" id="{4EA0C7E8-38B7-4A73-A606-4EFB7D3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Routing and retrieval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Memory hardening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Answer contracts</a:t>
            </a:r>
          </a:p>
        </p:txBody>
      </p:sp>
      <p:sp>
        <p:nvSpPr>
          <p:cNvPr id="17" name="wave-phases-1">
            <a:extLst xmlns:a="http://schemas.openxmlformats.org/drawingml/2006/main">
              <a:ext uri="{FF2B5EF4-FFF2-40B4-BE49-F238E27FC236}">
                <a16:creationId xmlns:a16="http://schemas.microsoft.com/office/drawing/2014/main" id="{F92ED6BB-3786-4854-854E-F7B4CDD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Phases 3–5</a:t>
            </a:r>
          </a:p>
        </p:txBody>
      </p:sp>
      <p:sp>
        <p:nvSpPr>
          <p:cNvPr id="18" name="wave-node-2">
            <a:extLst xmlns:a="http://schemas.openxmlformats.org/drawingml/2006/main">
              <a:ext uri="{FF2B5EF4-FFF2-40B4-BE49-F238E27FC236}">
                <a16:creationId xmlns:a16="http://schemas.microsoft.com/office/drawing/2014/main" id="{6E0A11E6-A28D-4E3B-A1D3-0D225538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wave-number-2">
            <a:extLst xmlns:a="http://schemas.openxmlformats.org/drawingml/2006/main">
              <a:ext uri="{FF2B5EF4-FFF2-40B4-BE49-F238E27FC236}">
                <a16:creationId xmlns:a16="http://schemas.microsoft.com/office/drawing/2014/main" id="{CDB205A0-2E63-4196-BEE3-055CB875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574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wave-title-2">
            <a:extLst xmlns:a="http://schemas.openxmlformats.org/drawingml/2006/main">
              <a:ext uri="{FF2B5EF4-FFF2-40B4-BE49-F238E27FC236}">
                <a16:creationId xmlns:a16="http://schemas.microsoft.com/office/drawing/2014/main" id="{7FECBAE2-5C84-41A7-AF7E-6E09E2E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Make it visible</a:t>
            </a:r>
          </a:p>
        </p:txBody>
      </p:sp>
      <p:sp>
        <p:nvSpPr>
          <p:cNvPr id="21" name="wave-body-2">
            <a:extLst xmlns:a="http://schemas.openxmlformats.org/drawingml/2006/main">
              <a:ext uri="{FF2B5EF4-FFF2-40B4-BE49-F238E27FC236}">
                <a16:creationId xmlns:a16="http://schemas.microsoft.com/office/drawing/2014/main" id="{2796BF9D-417F-4E57-8D25-F02F58A4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Observability and QA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Model calibration</a:t>
            </a:r>
          </a:p>
        </p:txBody>
      </p:sp>
      <p:sp>
        <p:nvSpPr>
          <p:cNvPr id="22" name="wave-phases-2">
            <a:extLst xmlns:a="http://schemas.openxmlformats.org/drawingml/2006/main">
              <a:ext uri="{FF2B5EF4-FFF2-40B4-BE49-F238E27FC236}">
                <a16:creationId xmlns:a16="http://schemas.microsoft.com/office/drawing/2014/main" id="{D4B2C919-6F01-4A0A-A4B6-F8D949EA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Phases 6–7</a:t>
            </a:r>
          </a:p>
        </p:txBody>
      </p:sp>
      <p:sp>
        <p:nvSpPr>
          <p:cNvPr id="23" name="wave-node-3">
            <a:extLst xmlns:a="http://schemas.openxmlformats.org/drawingml/2006/main">
              <a:ext uri="{FF2B5EF4-FFF2-40B4-BE49-F238E27FC236}">
                <a16:creationId xmlns:a16="http://schemas.microsoft.com/office/drawing/2014/main" id="{8D428820-10F1-4981-9EB4-B2C3D565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240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4" name="wave-number-3">
            <a:extLst xmlns:a="http://schemas.openxmlformats.org/drawingml/2006/main">
              <a:ext uri="{FF2B5EF4-FFF2-40B4-BE49-F238E27FC236}">
                <a16:creationId xmlns:a16="http://schemas.microsoft.com/office/drawing/2014/main" id="{D55B0A2A-9436-4E60-974B-743464DC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574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wave-title-3">
            <a:extLst xmlns:a="http://schemas.openxmlformats.org/drawingml/2006/main">
              <a:ext uri="{FF2B5EF4-FFF2-40B4-BE49-F238E27FC236}">
                <a16:creationId xmlns:a16="http://schemas.microsoft.com/office/drawing/2014/main" id="{2003AC9B-B8B1-4FA1-A646-5EC0E90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803D"/>
                </a:solidFill>
              </a:defRPr>
            </a:pPr>
            <a:r>
              <a:rPr sz="2025" b="1">
                <a:solidFill>
                  <a:srgbClr val="15803D"/>
                </a:solidFill>
              </a:rPr>
              <a:t>Roll out safely</a:t>
            </a:r>
          </a:p>
        </p:txBody>
      </p:sp>
      <p:sp>
        <p:nvSpPr>
          <p:cNvPr id="26" name="wave-body-3">
            <a:extLst xmlns:a="http://schemas.openxmlformats.org/drawingml/2006/main">
              <a:ext uri="{FF2B5EF4-FFF2-40B4-BE49-F238E27FC236}">
                <a16:creationId xmlns:a16="http://schemas.microsoft.com/office/drawing/2014/main" id="{3B8FB1F3-B079-45B6-9DA1-77AE032F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Feature flags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Internal shadow runs</a:t>
            </a:r>
          </a:p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Measured canary</a:t>
            </a:r>
          </a:p>
        </p:txBody>
      </p:sp>
      <p:sp>
        <p:nvSpPr>
          <p:cNvPr id="27" name="wave-phases-3">
            <a:extLst xmlns:a="http://schemas.openxmlformats.org/drawingml/2006/main">
              <a:ext uri="{FF2B5EF4-FFF2-40B4-BE49-F238E27FC236}">
                <a16:creationId xmlns:a16="http://schemas.microsoft.com/office/drawing/2014/main" id="{9C5F5431-9246-473A-A6CE-E80C3320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Phase 8</a:t>
            </a:r>
          </a:p>
        </p:txBody>
      </p:sp>
      <p:sp>
        <p:nvSpPr>
          <p:cNvPr id="28" name="wave-principle">
            <a:extLst xmlns:a="http://schemas.openxmlformats.org/drawingml/2006/main">
              <a:ext uri="{FF2B5EF4-FFF2-40B4-BE49-F238E27FC236}">
                <a16:creationId xmlns:a16="http://schemas.microsoft.com/office/drawing/2014/main" id="{2DB50B68-5BF4-4EF1-982F-AE7B9F9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72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wave-principle-text">
            <a:extLst xmlns:a="http://schemas.openxmlformats.org/drawingml/2006/main">
              <a:ext uri="{FF2B5EF4-FFF2-40B4-BE49-F238E27FC236}">
                <a16:creationId xmlns:a16="http://schemas.microsoft.com/office/drawing/2014/main" id="{D950A4DD-8237-4236-ADD7-F5AF6050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149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Approval gate after every phase; no tuning before evidence and payload control.</a:t>
            </a:r>
          </a:p>
        </p:txBody>
      </p:sp>
    </p:spTree>
    <p:extLst>
      <p:ext uri="{BB962C8B-B14F-4D97-AF65-F5344CB8AC3E}">
        <p14:creationId xmlns:p14="http://schemas.microsoft.com/office/powerpoint/2010/main" val="1228177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1676E2A1-F2C4-4332-9270-579AD821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118F9CA-8479-461D-AC5B-AD3AD6D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WAVE 1 | PHASES 0–2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F3008A6A-0042-4D6D-8301-C20ED7F3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Establish truth and prevent partial answers</a:t>
            </a:r>
          </a:p>
        </p:txBody>
      </p:sp>
      <p:sp>
        <p:nvSpPr>
          <p:cNvPr id="4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DA4CCCEA-0547-498C-8A93-4C2188B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8BCDACA8-6351-440B-AB23-BA1156D1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DDB562E9-EFB5-4899-80B2-614FC4C6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0 · Baseline-accent">
            <a:extLst xmlns:a="http://schemas.openxmlformats.org/drawingml/2006/main">
              <a:ext uri="{FF2B5EF4-FFF2-40B4-BE49-F238E27FC236}">
                <a16:creationId xmlns:a16="http://schemas.microsoft.com/office/drawing/2014/main" id="{89521B6C-E980-438D-AFB8-FF10C842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 · Baseline-heading">
            <a:extLst xmlns:a="http://schemas.openxmlformats.org/drawingml/2006/main">
              <a:ext uri="{FF2B5EF4-FFF2-40B4-BE49-F238E27FC236}">
                <a16:creationId xmlns:a16="http://schemas.microsoft.com/office/drawing/2014/main" id="{9A04080D-C736-41C4-AD6F-8892471D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0 · Baseline</a:t>
            </a:r>
          </a:p>
        </p:txBody>
      </p:sp>
      <p:sp>
        <p:nvSpPr>
          <p:cNvPr id="9" name="0 · Baseline-body">
            <a:extLst xmlns:a="http://schemas.openxmlformats.org/drawingml/2006/main">
              <a:ext uri="{FF2B5EF4-FFF2-40B4-BE49-F238E27FC236}">
                <a16:creationId xmlns:a16="http://schemas.microsoft.com/office/drawing/2014/main" id="{F9D4AEE8-9172-4C04-BFCB-FAF4D234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4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Build a fixed Hebrew/English evaluation pack across Lite, semantic, exact, mixed, memory, conflict, missing-evidence, and adversarial cases.</a:t>
            </a:r>
          </a:p>
        </p:txBody>
      </p:sp>
      <p:sp>
        <p:nvSpPr>
          <p:cNvPr id="10" name="1 · Completion integrity-accent">
            <a:extLst xmlns:a="http://schemas.openxmlformats.org/drawingml/2006/main">
              <a:ext uri="{FF2B5EF4-FFF2-40B4-BE49-F238E27FC236}">
                <a16:creationId xmlns:a16="http://schemas.microsoft.com/office/drawing/2014/main" id="{6066DA5B-69F6-44A1-977A-7299E5F5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 · Completion integrity-heading">
            <a:extLst xmlns:a="http://schemas.openxmlformats.org/drawingml/2006/main">
              <a:ext uri="{FF2B5EF4-FFF2-40B4-BE49-F238E27FC236}">
                <a16:creationId xmlns:a16="http://schemas.microsoft.com/office/drawing/2014/main" id="{D2398986-2BAB-4F10-B13A-A79E2A3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24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1 · Completion integrity</a:t>
            </a:r>
          </a:p>
        </p:txBody>
      </p:sp>
      <p:sp>
        <p:nvSpPr>
          <p:cNvPr id="12" name="1 · Completion integrity-body">
            <a:extLst xmlns:a="http://schemas.openxmlformats.org/drawingml/2006/main">
              <a:ext uri="{FF2B5EF4-FFF2-40B4-BE49-F238E27FC236}">
                <a16:creationId xmlns:a16="http://schemas.microsoft.com/office/drawing/2014/main" id="{27F9BF03-2EEF-48C0-87EA-125A774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304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Carry finish metadata with the answer. Reject length/MAX_TOKENS. Retry once with bounded context, then return an honest safe fallback.</a:t>
            </a:r>
          </a:p>
        </p:txBody>
      </p:sp>
      <p:sp>
        <p:nvSpPr>
          <p:cNvPr id="13" name="2 · Main compaction-accent">
            <a:extLst xmlns:a="http://schemas.openxmlformats.org/drawingml/2006/main">
              <a:ext uri="{FF2B5EF4-FFF2-40B4-BE49-F238E27FC236}">
                <a16:creationId xmlns:a16="http://schemas.microsoft.com/office/drawing/2014/main" id="{19AE7F48-ACB8-4AB7-A9C3-6AFF9D8F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2 · Main compaction-heading">
            <a:extLst xmlns:a="http://schemas.openxmlformats.org/drawingml/2006/main">
              <a:ext uri="{FF2B5EF4-FFF2-40B4-BE49-F238E27FC236}">
                <a16:creationId xmlns:a16="http://schemas.microsoft.com/office/drawing/2014/main" id="{E937347F-D427-4355-9F90-D972D13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2 · Main compaction</a:t>
            </a:r>
          </a:p>
        </p:txBody>
      </p:sp>
      <p:sp>
        <p:nvSpPr>
          <p:cNvPr id="15" name="2 · Main compaction-body">
            <a:extLst xmlns:a="http://schemas.openxmlformats.org/drawingml/2006/main">
              <a:ext uri="{FF2B5EF4-FFF2-40B4-BE49-F238E27FC236}">
                <a16:creationId xmlns:a16="http://schemas.microsoft.com/office/drawing/2014/main" id="{05F95830-5A59-4193-B2FB-0C9A5851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04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Create one deduplicated evidence representation. Remove raw duplicates. Compact graph and tool results. Enforce a preflight input budget.</a:t>
            </a:r>
          </a:p>
        </p:txBody>
      </p:sp>
      <p:sp>
        <p:nvSpPr>
          <p:cNvPr id="16" name="wave1-gate-line">
            <a:extLst xmlns:a="http://schemas.openxmlformats.org/drawingml/2006/main">
              <a:ext uri="{FF2B5EF4-FFF2-40B4-BE49-F238E27FC236}">
                <a16:creationId xmlns:a16="http://schemas.microsoft.com/office/drawing/2014/main" id="{E726471B-F4F4-4363-B4DB-87814F40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wave1-gate-title">
            <a:extLst xmlns:a="http://schemas.openxmlformats.org/drawingml/2006/main">
              <a:ext uri="{FF2B5EF4-FFF2-40B4-BE49-F238E27FC236}">
                <a16:creationId xmlns:a16="http://schemas.microsoft.com/office/drawing/2014/main" id="{1BF353B1-4B95-477A-878A-170493B0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803D"/>
                </a:solidFill>
              </a:defRPr>
            </a:pPr>
            <a:r>
              <a:rPr sz="1950" b="1">
                <a:solidFill>
                  <a:srgbClr val="15803D"/>
                </a:solidFill>
              </a:rPr>
              <a:t>Exit gate</a:t>
            </a:r>
          </a:p>
        </p:txBody>
      </p:sp>
      <p:sp>
        <p:nvSpPr>
          <p:cNvPr id="18" name="wave1-gate-body">
            <a:extLst xmlns:a="http://schemas.openxmlformats.org/drawingml/2006/main">
              <a:ext uri="{FF2B5EF4-FFF2-40B4-BE49-F238E27FC236}">
                <a16:creationId xmlns:a16="http://schemas.microsoft.com/office/drawing/2014/main" id="{57ADD57D-70A7-4A74-A160-3B9E2639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434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No truncated completion can reach a customer. Main prompt p95 is at or below ~24K tokens. No uncapped raw retrieval object is serialized into Main.</a:t>
            </a:r>
          </a:p>
        </p:txBody>
      </p:sp>
      <p:sp>
        <p:nvSpPr>
          <p:cNvPr id="19" name="wave1-test">
            <a:extLst xmlns:a="http://schemas.openxmlformats.org/drawingml/2006/main">
              <a:ext uri="{FF2B5EF4-FFF2-40B4-BE49-F238E27FC236}">
                <a16:creationId xmlns:a16="http://schemas.microsoft.com/office/drawing/2014/main" id="{EA6DA96D-D232-4290-8E1A-4509F55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Test first: timeout · truncation · empty output · provider error · duplicate evidence · oversized payload</a:t>
            </a:r>
          </a:p>
        </p:txBody>
      </p:sp>
    </p:spTree>
    <p:extLst>
      <p:ext uri="{BB962C8B-B14F-4D97-AF65-F5344CB8AC3E}">
        <p14:creationId xmlns:p14="http://schemas.microsoft.com/office/powerpoint/2010/main" val="4049185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-9">
            <a:extLst xmlns:a="http://schemas.openxmlformats.org/drawingml/2006/main">
              <a:ext uri="{FF2B5EF4-FFF2-40B4-BE49-F238E27FC236}">
                <a16:creationId xmlns:a16="http://schemas.microsoft.com/office/drawing/2014/main" id="{56E12412-7E07-4473-9C19-7CF084F9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DBAE736B-F9C4-43A5-9D0A-F24585A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WAVE 2 | PHASES 3–5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4BD35D4-6C3E-4890-9088-BBE47CA5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Improve routing, evidence, and memory precision</a:t>
            </a:r>
          </a:p>
        </p:txBody>
      </p:sp>
      <p:sp>
        <p:nvSpPr>
          <p:cNvPr id="4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8BB1F01D-0610-4814-85FB-6EFCC26D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C51BD65F-C957-49DD-952F-CF8F620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9D61D973-5230-438F-A74B-B8FFD60A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3 · Routing and retrieval-accent">
            <a:extLst xmlns:a="http://schemas.openxmlformats.org/drawingml/2006/main">
              <a:ext uri="{FF2B5EF4-FFF2-40B4-BE49-F238E27FC236}">
                <a16:creationId xmlns:a16="http://schemas.microsoft.com/office/drawing/2014/main" id="{22DA76F0-C501-48C7-B97B-CD8F15D9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3 · Routing and retrieval-heading">
            <a:extLst xmlns:a="http://schemas.openxmlformats.org/drawingml/2006/main">
              <a:ext uri="{FF2B5EF4-FFF2-40B4-BE49-F238E27FC236}">
                <a16:creationId xmlns:a16="http://schemas.microsoft.com/office/drawing/2014/main" id="{ECD763C9-3883-4F46-ACBA-46BF6675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3 · Routing and retrieval</a:t>
            </a:r>
          </a:p>
        </p:txBody>
      </p:sp>
      <p:sp>
        <p:nvSpPr>
          <p:cNvPr id="9" name="3 · Routing and retrieval-body">
            <a:extLst xmlns:a="http://schemas.openxmlformats.org/drawingml/2006/main">
              <a:ext uri="{FF2B5EF4-FFF2-40B4-BE49-F238E27FC236}">
                <a16:creationId xmlns:a16="http://schemas.microsoft.com/office/drawing/2014/main" id="{D5162569-F197-4D89-9B8A-C724746B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480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Freeze an exact / semantic / mixed capability matrix. Calibrate classifier routing, date handling, query rewrite, hashtag relaxation, deduplication, and reranking.</a:t>
            </a:r>
          </a:p>
        </p:txBody>
      </p:sp>
      <p:sp>
        <p:nvSpPr>
          <p:cNvPr id="10" name="4 · Memory hardening-accent">
            <a:extLst xmlns:a="http://schemas.openxmlformats.org/drawingml/2006/main">
              <a:ext uri="{FF2B5EF4-FFF2-40B4-BE49-F238E27FC236}">
                <a16:creationId xmlns:a16="http://schemas.microsoft.com/office/drawing/2014/main" id="{1299EEFC-83DC-40E7-9176-6FE1FB97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57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4 · Memory hardening-heading">
            <a:extLst xmlns:a="http://schemas.openxmlformats.org/drawingml/2006/main">
              <a:ext uri="{FF2B5EF4-FFF2-40B4-BE49-F238E27FC236}">
                <a16:creationId xmlns:a16="http://schemas.microsoft.com/office/drawing/2014/main" id="{F993E2B4-D8D5-4DFD-84C6-5D8B58E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4 · Memory hardening</a:t>
            </a:r>
          </a:p>
        </p:txBody>
      </p:sp>
      <p:sp>
        <p:nvSpPr>
          <p:cNvPr id="12" name="4 · Memory hardening-body">
            <a:extLst xmlns:a="http://schemas.openxmlformats.org/drawingml/2006/main">
              <a:ext uri="{FF2B5EF4-FFF2-40B4-BE49-F238E27FC236}">
                <a16:creationId xmlns:a16="http://schemas.microsoft.com/office/drawing/2014/main" id="{7271A826-90DC-4EF7-90BB-EA928376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480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Test same-session follow-ups, explicit previous recall, user isolation, stale memory, corrections, deletion, secrets, and project-evidence boundaries.</a:t>
            </a:r>
          </a:p>
        </p:txBody>
      </p:sp>
      <p:sp>
        <p:nvSpPr>
          <p:cNvPr id="13" name="5 · Answer contracts-accent">
            <a:extLst xmlns:a="http://schemas.openxmlformats.org/drawingml/2006/main">
              <a:ext uri="{FF2B5EF4-FFF2-40B4-BE49-F238E27FC236}">
                <a16:creationId xmlns:a16="http://schemas.microsoft.com/office/drawing/2014/main" id="{FCA3A4DB-F553-4CAC-8F0C-B9B9C00D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57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5 · Answer contracts-heading">
            <a:extLst xmlns:a="http://schemas.openxmlformats.org/drawingml/2006/main">
              <a:ext uri="{FF2B5EF4-FFF2-40B4-BE49-F238E27FC236}">
                <a16:creationId xmlns:a16="http://schemas.microsoft.com/office/drawing/2014/main" id="{B54D9B41-BF0C-4884-AE7E-54D125EE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5 · Answer contracts</a:t>
            </a:r>
          </a:p>
        </p:txBody>
      </p:sp>
      <p:sp>
        <p:nvSpPr>
          <p:cNvPr id="15" name="5 · Answer contracts-body">
            <a:extLst xmlns:a="http://schemas.openxmlformats.org/drawingml/2006/main">
              <a:ext uri="{FF2B5EF4-FFF2-40B4-BE49-F238E27FC236}">
                <a16:creationId xmlns:a16="http://schemas.microsoft.com/office/drawing/2014/main" id="{2F8F2168-1EFD-4BAD-879C-32DAB82E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30480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Add controlled modes for latest status, responsibility, blockers vs risks, delay lists, and immediate actions. Map source IDs to controlled links.</a:t>
            </a:r>
          </a:p>
        </p:txBody>
      </p:sp>
      <p:sp>
        <p:nvSpPr>
          <p:cNvPr id="16" name="wave2-targets">
            <a:extLst xmlns:a="http://schemas.openxmlformats.org/drawingml/2006/main">
              <a:ext uri="{FF2B5EF4-FFF2-40B4-BE49-F238E27FC236}">
                <a16:creationId xmlns:a16="http://schemas.microsoft.com/office/drawing/2014/main" id="{507DFB2B-00C6-437A-965E-F84D25B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wave2-targets-title">
            <a:extLst xmlns:a="http://schemas.openxmlformats.org/drawingml/2006/main">
              <a:ext uri="{FF2B5EF4-FFF2-40B4-BE49-F238E27FC236}">
                <a16:creationId xmlns:a16="http://schemas.microsoft.com/office/drawing/2014/main" id="{2D7A970C-558B-44B5-9591-C69AB2E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Recommended acceptance targets</a:t>
            </a:r>
          </a:p>
        </p:txBody>
      </p:sp>
      <p:sp>
        <p:nvSpPr>
          <p:cNvPr id="18" name="wave2-targets-body">
            <a:extLst xmlns:a="http://schemas.openxmlformats.org/drawingml/2006/main">
              <a:ext uri="{FF2B5EF4-FFF2-40B4-BE49-F238E27FC236}">
                <a16:creationId xmlns:a16="http://schemas.microsoft.com/office/drawing/2014/main" id="{B94812CC-4DA3-4604-BC10-3F1FD391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All golden exact cases route correctly  ·  Overall routing ≥95%  ·  Evidence recall ≥90%</a:t>
            </a:r>
          </a:p>
          <a:p xmlns:a="http://schemas.openxmlformats.org/drawingml/2006/main">
            <a:pPr algn="ctr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Zero cross-user memory leakage  ·  Every citation ID resolves</a:t>
            </a:r>
          </a:p>
        </p:txBody>
      </p:sp>
    </p:spTree>
    <p:extLst>
      <p:ext uri="{BB962C8B-B14F-4D97-AF65-F5344CB8AC3E}">
        <p14:creationId xmlns:p14="http://schemas.microsoft.com/office/powerpoint/2010/main" val="2083161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6546CD70-9AE4-4701-AEAF-CB8F719D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5AA150DC-691F-4872-9FCF-FE4E5FC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WAVE 3 | PHASES 6–7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3D8C8767-B319-452B-901D-6C2A523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Make quality visible and cost-aware</a:t>
            </a:r>
          </a:p>
        </p:txBody>
      </p:sp>
      <p:sp>
        <p:nvSpPr>
          <p:cNvPr id="4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B2B1232F-8841-4587-9438-8C55974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259C3682-345F-4B95-BFE9-F0C1EB9B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2F448DBB-A310-420C-9A3F-E0911185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wave3-lead">
            <a:extLst xmlns:a="http://schemas.openxmlformats.org/drawingml/2006/main">
              <a:ext uri="{FF2B5EF4-FFF2-40B4-BE49-F238E27FC236}">
                <a16:creationId xmlns:a16="http://schemas.microsoft.com/office/drawing/2014/main" id="{3705AB68-164C-4E65-A9C0-D20142A4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</a:defRPr>
            </a:pPr>
            <a:r>
              <a:rPr sz="2025" b="0">
                <a:solidFill>
                  <a:srgbClr val="0F172A"/>
                </a:solidFill>
              </a:rPr>
              <a:t>Operational confidence requires the workflow view to report what actually happened—not simply that the request ended.</a:t>
            </a:r>
          </a:p>
        </p:txBody>
      </p:sp>
      <p:sp>
        <p:nvSpPr>
          <p:cNvPr id="8" name="6 · Observability and QA-accent">
            <a:extLst xmlns:a="http://schemas.openxmlformats.org/drawingml/2006/main">
              <a:ext uri="{FF2B5EF4-FFF2-40B4-BE49-F238E27FC236}">
                <a16:creationId xmlns:a16="http://schemas.microsoft.com/office/drawing/2014/main" id="{99286248-4C3C-4FF7-B865-B81089D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6 · Observability and QA-heading">
            <a:extLst xmlns:a="http://schemas.openxmlformats.org/drawingml/2006/main">
              <a:ext uri="{FF2B5EF4-FFF2-40B4-BE49-F238E27FC236}">
                <a16:creationId xmlns:a16="http://schemas.microsoft.com/office/drawing/2014/main" id="{3A467BEE-D6A4-4EA8-9BDB-E980A2E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6 · Observability and QA</a:t>
            </a:r>
          </a:p>
        </p:txBody>
      </p:sp>
      <p:sp>
        <p:nvSpPr>
          <p:cNvPr id="10" name="6 · Observability and QA-body">
            <a:extLst xmlns:a="http://schemas.openxmlformats.org/drawingml/2006/main">
              <a:ext uri="{FF2B5EF4-FFF2-40B4-BE49-F238E27FC236}">
                <a16:creationId xmlns:a16="http://schemas.microsoft.com/office/drawing/2014/main" id="{33040D70-49D2-4A1D-9CE4-3B63BD3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762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Track route reason, payload size by section, evidence count, Data Query reason codes, memory status, finish reason, fallback type, latency, tokens, and cost. Show conflicts as warnings when appropriate.</a:t>
            </a:r>
          </a:p>
        </p:txBody>
      </p:sp>
      <p:sp>
        <p:nvSpPr>
          <p:cNvPr id="11" name="7 · Model calibration-accent">
            <a:extLst xmlns:a="http://schemas.openxmlformats.org/drawingml/2006/main">
              <a:ext uri="{FF2B5EF4-FFF2-40B4-BE49-F238E27FC236}">
                <a16:creationId xmlns:a16="http://schemas.microsoft.com/office/drawing/2014/main" id="{5DF2482F-B5B6-4DE4-A3EF-D2129B25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7 · Model calibration-heading">
            <a:extLst xmlns:a="http://schemas.openxmlformats.org/drawingml/2006/main">
              <a:ext uri="{FF2B5EF4-FFF2-40B4-BE49-F238E27FC236}">
                <a16:creationId xmlns:a16="http://schemas.microsoft.com/office/drawing/2014/main" id="{A5EA1B3D-FBF7-499E-9398-3FBDC5C1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7 · Model calibration</a:t>
            </a:r>
          </a:p>
        </p:txBody>
      </p:sp>
      <p:sp>
        <p:nvSpPr>
          <p:cNvPr id="13" name="7 · Model calibration-body">
            <a:extLst xmlns:a="http://schemas.openxmlformats.org/drawingml/2006/main">
              <a:ext uri="{FF2B5EF4-FFF2-40B4-BE49-F238E27FC236}">
                <a16:creationId xmlns:a16="http://schemas.microsoft.com/office/drawing/2014/main" id="{2CE05B87-DC4D-46CE-8BDE-D5E5C4E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Only after compaction, compare the current Gemini Main model with cheaper candidates while holding prompts, evidence, retrieval, and questions constant.</a:t>
            </a:r>
          </a:p>
        </p:txBody>
      </p:sp>
      <p:sp>
        <p:nvSpPr>
          <p:cNvPr id="14" name="wave3-ui-note">
            <a:extLst xmlns:a="http://schemas.openxmlformats.org/drawingml/2006/main">
              <a:ext uri="{FF2B5EF4-FFF2-40B4-BE49-F238E27FC236}">
                <a16:creationId xmlns:a16="http://schemas.microsoft.com/office/drawing/2014/main" id="{D2051280-9992-443A-8705-63A42C2D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8458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5" name="wave3-ui-note-text">
            <a:extLst xmlns:a="http://schemas.openxmlformats.org/drawingml/2006/main">
              <a:ext uri="{FF2B5EF4-FFF2-40B4-BE49-F238E27FC236}">
                <a16:creationId xmlns:a16="http://schemas.microsoft.com/office/drawing/2014/main" id="{F6328A77-FA92-413A-B054-1E60D27B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81625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Settings status: Not checked, Verified, or Failed—never ambiguous gray.</a:t>
            </a:r>
          </a:p>
        </p:txBody>
      </p:sp>
    </p:spTree>
    <p:extLst>
      <p:ext uri="{BB962C8B-B14F-4D97-AF65-F5344CB8AC3E}">
        <p14:creationId xmlns:p14="http://schemas.microsoft.com/office/powerpoint/2010/main" val="195458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C2E12C03-77F9-437D-9689-02D0E984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2364C23-86AA-4414-8042-45BE4A02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WAVE 4 | PHASE 8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29570F1-3681-4F0A-884D-88E6A365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Roll out only against measurable gates</a:t>
            </a:r>
          </a:p>
        </p:txBody>
      </p:sp>
      <p:sp>
        <p:nvSpPr>
          <p:cNvPr id="4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74DF0640-774C-4B9A-B002-4AC58AF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A00BC8D5-0566-4FAD-8AEF-74786AE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62C3AAF2-9422-4AA3-BE5D-58A7C2D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rollout-number-0">
            <a:extLst xmlns:a="http://schemas.openxmlformats.org/drawingml/2006/main">
              <a:ext uri="{FF2B5EF4-FFF2-40B4-BE49-F238E27FC236}">
                <a16:creationId xmlns:a16="http://schemas.microsoft.com/office/drawing/2014/main" id="{E2D75B08-E90E-41FD-AD6B-BBC7A726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rollout-number-text-0">
            <a:extLst xmlns:a="http://schemas.openxmlformats.org/drawingml/2006/main">
              <a:ext uri="{FF2B5EF4-FFF2-40B4-BE49-F238E27FC236}">
                <a16:creationId xmlns:a16="http://schemas.microsoft.com/office/drawing/2014/main" id="{9C5F987E-0599-4403-BD70-A3016804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llout-title-0">
            <a:extLst xmlns:a="http://schemas.openxmlformats.org/drawingml/2006/main">
              <a:ext uri="{FF2B5EF4-FFF2-40B4-BE49-F238E27FC236}">
                <a16:creationId xmlns:a16="http://schemas.microsoft.com/office/drawing/2014/main" id="{355C3404-8C67-4A63-A764-2C94803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Feature flag</a:t>
            </a:r>
          </a:p>
        </p:txBody>
      </p:sp>
      <p:sp>
        <p:nvSpPr>
          <p:cNvPr id="10" name="rollout-body-0">
            <a:extLst xmlns:a="http://schemas.openxmlformats.org/drawingml/2006/main">
              <a:ext uri="{FF2B5EF4-FFF2-40B4-BE49-F238E27FC236}">
                <a16:creationId xmlns:a16="http://schemas.microsoft.com/office/drawing/2014/main" id="{F7ED41CD-9B6C-4759-BB86-50BA3F59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144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Keep every behavioral change reversible.</a:t>
            </a:r>
          </a:p>
        </p:txBody>
      </p:sp>
      <p:sp>
        <p:nvSpPr>
          <p:cNvPr id="11" name="rollout-number-1">
            <a:extLst xmlns:a="http://schemas.openxmlformats.org/drawingml/2006/main">
              <a:ext uri="{FF2B5EF4-FFF2-40B4-BE49-F238E27FC236}">
                <a16:creationId xmlns:a16="http://schemas.microsoft.com/office/drawing/2014/main" id="{149EEEDA-F8BA-4CE2-BF32-E98C68E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2" name="rollout-number-text-1">
            <a:extLst xmlns:a="http://schemas.openxmlformats.org/drawingml/2006/main">
              <a:ext uri="{FF2B5EF4-FFF2-40B4-BE49-F238E27FC236}">
                <a16:creationId xmlns:a16="http://schemas.microsoft.com/office/drawing/2014/main" id="{3E64D2E6-5E37-4E43-AEF2-D411B7B4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llout-title-1">
            <a:extLst xmlns:a="http://schemas.openxmlformats.org/drawingml/2006/main">
              <a:ext uri="{FF2B5EF4-FFF2-40B4-BE49-F238E27FC236}">
                <a16:creationId xmlns:a16="http://schemas.microsoft.com/office/drawing/2014/main" id="{6053B79B-A5EA-4D4A-83AF-2ECF7759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Evaluation pack</a:t>
            </a:r>
          </a:p>
        </p:txBody>
      </p:sp>
      <p:sp>
        <p:nvSpPr>
          <p:cNvPr id="14" name="rollout-body-1">
            <a:extLst xmlns:a="http://schemas.openxmlformats.org/drawingml/2006/main">
              <a:ext uri="{FF2B5EF4-FFF2-40B4-BE49-F238E27FC236}">
                <a16:creationId xmlns:a16="http://schemas.microsoft.com/office/drawing/2014/main" id="{66155EC5-07F2-4F6A-AAB3-6757631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955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Run the fixed baseline before any live exposure.</a:t>
            </a:r>
          </a:p>
        </p:txBody>
      </p:sp>
      <p:sp>
        <p:nvSpPr>
          <p:cNvPr id="15" name="rollout-number-2">
            <a:extLst xmlns:a="http://schemas.openxmlformats.org/drawingml/2006/main">
              <a:ext uri="{FF2B5EF4-FFF2-40B4-BE49-F238E27FC236}">
                <a16:creationId xmlns:a16="http://schemas.microsoft.com/office/drawing/2014/main" id="{CE0D4F90-B3D2-4ABF-85F3-60DD571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6" name="rollout-number-text-2">
            <a:extLst xmlns:a="http://schemas.openxmlformats.org/drawingml/2006/main">
              <a:ext uri="{FF2B5EF4-FFF2-40B4-BE49-F238E27FC236}">
                <a16:creationId xmlns:a16="http://schemas.microsoft.com/office/drawing/2014/main" id="{B11AE636-0B6D-45D1-A4BC-03CCB00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ollout-title-2">
            <a:extLst xmlns:a="http://schemas.openxmlformats.org/drawingml/2006/main">
              <a:ext uri="{FF2B5EF4-FFF2-40B4-BE49-F238E27FC236}">
                <a16:creationId xmlns:a16="http://schemas.microsoft.com/office/drawing/2014/main" id="{23934353-0EE9-4E6E-8A88-CDE18C9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Internal shadow</a:t>
            </a:r>
          </a:p>
        </p:txBody>
      </p:sp>
      <p:sp>
        <p:nvSpPr>
          <p:cNvPr id="18" name="rollout-body-2">
            <a:extLst xmlns:a="http://schemas.openxmlformats.org/drawingml/2006/main">
              <a:ext uri="{FF2B5EF4-FFF2-40B4-BE49-F238E27FC236}">
                <a16:creationId xmlns:a16="http://schemas.microsoft.com/office/drawing/2014/main" id="{88B062B6-FCFE-4FFD-81C5-2096A35D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Compare old and new paths without customer impact.</a:t>
            </a:r>
          </a:p>
        </p:txBody>
      </p:sp>
      <p:sp>
        <p:nvSpPr>
          <p:cNvPr id="19" name="rollout-number-3">
            <a:extLst xmlns:a="http://schemas.openxmlformats.org/drawingml/2006/main">
              <a:ext uri="{FF2B5EF4-FFF2-40B4-BE49-F238E27FC236}">
                <a16:creationId xmlns:a16="http://schemas.microsoft.com/office/drawing/2014/main" id="{C1FCFBF8-485A-4246-BB0C-CE12329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0" name="rollout-number-text-3">
            <a:extLst xmlns:a="http://schemas.openxmlformats.org/drawingml/2006/main">
              <a:ext uri="{FF2B5EF4-FFF2-40B4-BE49-F238E27FC236}">
                <a16:creationId xmlns:a16="http://schemas.microsoft.com/office/drawing/2014/main" id="{AAD84066-9912-49AA-B07D-E62AC64C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ollout-title-3">
            <a:extLst xmlns:a="http://schemas.openxmlformats.org/drawingml/2006/main">
              <a:ext uri="{FF2B5EF4-FFF2-40B4-BE49-F238E27FC236}">
                <a16:creationId xmlns:a16="http://schemas.microsoft.com/office/drawing/2014/main" id="{DBC9286F-AAE9-4B96-B7CD-727488B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Small canary</a:t>
            </a:r>
          </a:p>
        </p:txBody>
      </p:sp>
      <p:sp>
        <p:nvSpPr>
          <p:cNvPr id="22" name="rollout-body-3">
            <a:extLst xmlns:a="http://schemas.openxmlformats.org/drawingml/2006/main">
              <a:ext uri="{FF2B5EF4-FFF2-40B4-BE49-F238E27FC236}">
                <a16:creationId xmlns:a16="http://schemas.microsoft.com/office/drawing/2014/main" id="{00FD55EC-BF8D-4BF3-856C-3E2997FF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Measure quality, errors, latency, tokens, and dislikes.</a:t>
            </a:r>
          </a:p>
        </p:txBody>
      </p:sp>
      <p:sp>
        <p:nvSpPr>
          <p:cNvPr id="23" name="rollout-number-4">
            <a:extLst xmlns:a="http://schemas.openxmlformats.org/drawingml/2006/main">
              <a:ext uri="{FF2B5EF4-FFF2-40B4-BE49-F238E27FC236}">
                <a16:creationId xmlns:a16="http://schemas.microsoft.com/office/drawing/2014/main" id="{7B7EB1ED-2F90-4F98-BE7C-86D54965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4" name="rollout-number-text-4">
            <a:extLst xmlns:a="http://schemas.openxmlformats.org/drawingml/2006/main">
              <a:ext uri="{FF2B5EF4-FFF2-40B4-BE49-F238E27FC236}">
                <a16:creationId xmlns:a16="http://schemas.microsoft.com/office/drawing/2014/main" id="{C67FCF7E-3D60-461B-B4C7-0876F17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rollout-title-4">
            <a:extLst xmlns:a="http://schemas.openxmlformats.org/drawingml/2006/main">
              <a:ext uri="{FF2B5EF4-FFF2-40B4-BE49-F238E27FC236}">
                <a16:creationId xmlns:a16="http://schemas.microsoft.com/office/drawing/2014/main" id="{1183CB47-BB92-46D5-89EF-B502D4A8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Expand or roll back</a:t>
            </a:r>
          </a:p>
        </p:txBody>
      </p:sp>
      <p:sp>
        <p:nvSpPr>
          <p:cNvPr id="26" name="rollout-body-4">
            <a:extLst xmlns:a="http://schemas.openxmlformats.org/drawingml/2006/main">
              <a:ext uri="{FF2B5EF4-FFF2-40B4-BE49-F238E27FC236}">
                <a16:creationId xmlns:a16="http://schemas.microsoft.com/office/drawing/2014/main" id="{A792C226-82E0-4B42-A671-0B3B3AED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386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Proceed only when the new path beats baseline.</a:t>
            </a:r>
          </a:p>
        </p:txBody>
      </p:sp>
      <p:sp>
        <p:nvSpPr>
          <p:cNvPr id="27" name="done-box">
            <a:extLst xmlns:a="http://schemas.openxmlformats.org/drawingml/2006/main">
              <a:ext uri="{FF2B5EF4-FFF2-40B4-BE49-F238E27FC236}">
                <a16:creationId xmlns:a16="http://schemas.microsoft.com/office/drawing/2014/main" id="{A4631F99-24D9-4E11-88A7-429D59B5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66850"/>
            <a:ext cx="3048000" cy="44386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done-title">
            <a:extLst xmlns:a="http://schemas.openxmlformats.org/drawingml/2006/main">
              <a:ext uri="{FF2B5EF4-FFF2-40B4-BE49-F238E27FC236}">
                <a16:creationId xmlns:a16="http://schemas.microsoft.com/office/drawing/2014/main" id="{582F15B8-593F-4C44-BFA2-75F1B03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954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Definition of done</a:t>
            </a:r>
          </a:p>
        </p:txBody>
      </p:sp>
      <p:sp>
        <p:nvSpPr>
          <p:cNvPr id="29" name="done-body">
            <a:extLst xmlns:a="http://schemas.openxmlformats.org/drawingml/2006/main">
              <a:ext uri="{FF2B5EF4-FFF2-40B4-BE49-F238E27FC236}">
                <a16:creationId xmlns:a16="http://schemas.microsoft.com/office/drawing/2014/main" id="{CB71352C-71A8-4219-B067-16753DA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28850"/>
            <a:ext cx="2514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• No incomplete answer is accepted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• Main context remains bounded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• Exact routes pass the gold set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• Citation IDs resolve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• No cross-user memory leakage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• Full suite is green or legacy tests are explicitly quarantined</a:t>
            </a:r>
          </a:p>
        </p:txBody>
      </p:sp>
    </p:spTree>
    <p:extLst>
      <p:ext uri="{BB962C8B-B14F-4D97-AF65-F5344CB8AC3E}">
        <p14:creationId xmlns:p14="http://schemas.microsoft.com/office/powerpoint/2010/main" val="2141972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567DC82B-935A-426E-8052-732D1A3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5797C9E-6F33-482B-A084-CE6D8D99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IMMEDIATE DECISION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DB1810D6-94C8-419F-ACFE-7A9672E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Approve Phase 0—not a production change</a:t>
            </a:r>
          </a:p>
        </p:txBody>
      </p:sp>
      <p:sp>
        <p:nvSpPr>
          <p:cNvPr id="4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EEF2588B-DF6E-40FF-AE41-8CEC650F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5391B3C4-3AC4-4366-B117-1DD9E49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BiDoc Chat | Internal leadership review</a:t>
            </a:r>
          </a:p>
        </p:txBody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BCE1561D-251C-4989-A340-5962CE60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decision-lead">
            <a:extLst xmlns:a="http://schemas.openxmlformats.org/drawingml/2006/main">
              <a:ext uri="{FF2B5EF4-FFF2-40B4-BE49-F238E27FC236}">
                <a16:creationId xmlns:a16="http://schemas.microsoft.com/office/drawing/2014/main" id="{2EE9BFF0-D559-46BA-A9A9-E2D2DB23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F172A"/>
                </a:solidFill>
              </a:defRPr>
            </a:pPr>
            <a:r>
              <a:rPr sz="2250" b="0">
                <a:solidFill>
                  <a:srgbClr val="0F172A"/>
                </a:solidFill>
              </a:rPr>
              <a:t>The first step is a measured baseline, not another fix based on isolated examples.</a:t>
            </a:r>
          </a:p>
        </p:txBody>
      </p:sp>
      <p:sp>
        <p:nvSpPr>
          <p:cNvPr id="8" name="12-question smoke pack-accent">
            <a:extLst xmlns:a="http://schemas.openxmlformats.org/drawingml/2006/main">
              <a:ext uri="{FF2B5EF4-FFF2-40B4-BE49-F238E27FC236}">
                <a16:creationId xmlns:a16="http://schemas.microsoft.com/office/drawing/2014/main" id="{90033B08-5AB9-46E5-8744-530C332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12-question smoke pack-heading">
            <a:extLst xmlns:a="http://schemas.openxmlformats.org/drawingml/2006/main">
              <a:ext uri="{FF2B5EF4-FFF2-40B4-BE49-F238E27FC236}">
                <a16:creationId xmlns:a16="http://schemas.microsoft.com/office/drawing/2014/main" id="{14E1E2DF-9A40-4439-87BD-AF2880A5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12-question smoke pack</a:t>
            </a:r>
          </a:p>
        </p:txBody>
      </p:sp>
      <p:sp>
        <p:nvSpPr>
          <p:cNvPr id="10" name="12-question smoke pack-body">
            <a:extLst xmlns:a="http://schemas.openxmlformats.org/drawingml/2006/main">
              <a:ext uri="{FF2B5EF4-FFF2-40B4-BE49-F238E27FC236}">
                <a16:creationId xmlns:a16="http://schemas.microsoft.com/office/drawing/2014/main" id="{84715AF4-CDCD-4057-AAA7-11F6CAF6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62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3 semantic · 3 exact · 2 mixed · 2 same-session memory · 1 previous-session recall · 1 missing-evidence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Run each case three times.</a:t>
            </a:r>
          </a:p>
        </p:txBody>
      </p:sp>
      <p:sp>
        <p:nvSpPr>
          <p:cNvPr id="11" name="Deliverable and approval gate-accent">
            <a:extLst xmlns:a="http://schemas.openxmlformats.org/drawingml/2006/main">
              <a:ext uri="{FF2B5EF4-FFF2-40B4-BE49-F238E27FC236}">
                <a16:creationId xmlns:a16="http://schemas.microsoft.com/office/drawing/2014/main" id="{E4FB24F0-87A2-4F40-A934-8B86AE0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liverable and approval gate-heading">
            <a:extLst xmlns:a="http://schemas.openxmlformats.org/drawingml/2006/main">
              <a:ext uri="{FF2B5EF4-FFF2-40B4-BE49-F238E27FC236}">
                <a16:creationId xmlns:a16="http://schemas.microsoft.com/office/drawing/2014/main" id="{739303C7-5D9B-46B8-AFB3-26B4B7E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Deliverable and approval gate</a:t>
            </a:r>
          </a:p>
        </p:txBody>
      </p:sp>
      <p:sp>
        <p:nvSpPr>
          <p:cNvPr id="13" name="Deliverable and approval gate-body">
            <a:extLst xmlns:a="http://schemas.openxmlformats.org/drawingml/2006/main">
              <a:ext uri="{FF2B5EF4-FFF2-40B4-BE49-F238E27FC236}">
                <a16:creationId xmlns:a16="http://schemas.microsoft.com/office/drawing/2014/main" id="{D9138922-676F-4608-9541-FF388166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762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Record route, evidence, answer quality, citations, finish reason, prompt tokens, latency, cost, and fallback state. Approve Phase 1 only after the baseline is accepted.</a:t>
            </a:r>
          </a:p>
        </p:txBody>
      </p:sp>
      <p:sp>
        <p:nvSpPr>
          <p:cNvPr id="14" name="decision-close">
            <a:extLst xmlns:a="http://schemas.openxmlformats.org/drawingml/2006/main">
              <a:ext uri="{FF2B5EF4-FFF2-40B4-BE49-F238E27FC236}">
                <a16:creationId xmlns:a16="http://schemas.microsoft.com/office/drawing/2014/main" id="{89F1E734-395B-470D-80A0-9DE316C6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05400"/>
            <a:ext cx="8382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5" name="decision-close-text">
            <a:extLst xmlns:a="http://schemas.openxmlformats.org/drawingml/2006/main">
              <a:ext uri="{FF2B5EF4-FFF2-40B4-BE49-F238E27FC236}">
                <a16:creationId xmlns:a16="http://schemas.microsoft.com/office/drawing/2014/main" id="{DA513DAE-91AE-4F36-9A37-E7C2175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Decision: authorize Phase 0 baseline evaluation only.</a:t>
            </a:r>
          </a:p>
        </p:txBody>
      </p:sp>
    </p:spTree>
    <p:extLst>
      <p:ext uri="{BB962C8B-B14F-4D97-AF65-F5344CB8AC3E}">
        <p14:creationId xmlns:p14="http://schemas.microsoft.com/office/powerpoint/2010/main" val="1229750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2026-08-20T15:35:51.1730000Z</dcterms:created>
  <dcterms:modified xsi:type="dcterms:W3CDTF">2026-08-20T15:35:51.1730000Z</dcterms:modified>
</coreProperties>
</file>