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88c810e61f4d66" /><Relationship Type="http://schemas.openxmlformats.org/officeDocument/2006/relationships/extended-properties" Target="/docProps/app.xml" Id="R9c33afbd8e344126" /><Relationship Type="http://schemas.openxmlformats.org/officeDocument/2006/relationships/officeDocument" Target="/ppt/presentation.xml" Id="R356b087e6fcc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5d7b8fb0ee460a"/>
  </p:sldMasterIdLst>
  <p:notesMasterIdLst>
    <p:notesMasterId xmlns:r="http://schemas.openxmlformats.org/officeDocument/2006/relationships" r:id="R32ad94f34f75460d"/>
  </p:notesMasterIdLst>
  <p:sldIdLst>
    <p:sldId xmlns:r="http://schemas.openxmlformats.org/officeDocument/2006/relationships" id="256" r:id="Rc62cb42d789f42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aea2770c94400f" /><Relationship Type="http://schemas.openxmlformats.org/officeDocument/2006/relationships/slideMaster" Target="/ppt/slideMasters/slideMaster1.xml" Id="R3f5d7b8fb0ee460a" /><Relationship Type="http://schemas.openxmlformats.org/officeDocument/2006/relationships/notesMaster" Target="/ppt/notesMasters/notesMaster1.xml" Id="R32ad94f34f75460d" /><Relationship Type="http://schemas.openxmlformats.org/officeDocument/2006/relationships/presProps" Target="/ppt/presProps.xml" Id="Rac5aa17ff26e4346" /><Relationship Type="http://schemas.openxmlformats.org/officeDocument/2006/relationships/tableStyles" Target="/ppt/tableStyles.xml" Id="Rccc6a1c5778341e3" /><Relationship Type="http://schemas.openxmlformats.org/officeDocument/2006/relationships/slide" Target="/ppt/slides/slide1.xml" Id="Rc62cb42d789f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69ae865216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af6e7842364714" /><Relationship Type="http://schemas.openxmlformats.org/officeDocument/2006/relationships/notesMaster" Target="/ppt/notesMasters/notesMaster1.xml" Id="R3f21ff0ea2ee4c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R5 checkpoint: docs/Indicator + Contracts/BIDoc_Contracts_Pipeline_R5_Shadow_Schedule_Projection_Checkpoint_2026-08-17.md</a:t>
            </a:r>
          </a:p>
          <a:p xmlns:a="http://schemas.openxmlformats.org/drawingml/2006/main">
            <a:r>
              <a:t>- Verified retained-workspace audit: 137 current decisions; 40 suitable; 24 unsuitable; 73 requiring review; zero Schedule writes.</a:t>
            </a:r>
          </a:p>
          <a:p xmlns:a="http://schemas.openxmlformats.org/drawingml/2006/main">
            <a:r>
              <a:t>- Verified test results: Contracts 148/148; Schedule 47/47; React build passed.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8ee3acf45946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b2fb66c40449b" /><Relationship Type="http://schemas.openxmlformats.org/officeDocument/2006/relationships/slideLayout" Target="/ppt/slideLayouts/slideLayout1.xml" Id="Rc5619bc2467e4f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619bc2467e4f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833a8b838462d" /><Relationship Type="http://schemas.openxmlformats.org/officeDocument/2006/relationships/notesSlide" Target="/ppt/notesSlides/notesSlide1.xml" Id="Rb6e9b1e76de148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DFB62EF-05B7-4343-A80D-7248EED6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276975"/>
            <a:ext cx="12287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BIDOC • 2026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3EF270-DC61-438B-8115-C37F156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0"/>
              </a:spcAft>
              <a:buNone/>
              <a:defRPr sz="29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Completed: Contract Intelligence from PDF to Indicator Handoff</a:t>
            </a:r>
          </a:p>
        </p:txBody>
      </p:sp>
      <p:sp>
        <p:nvSpPr>
          <p:cNvPr id="3" name="summary-intro">
            <a:extLst xmlns:a="http://schemas.openxmlformats.org/drawingml/2006/main">
              <a:ext uri="{FF2B5EF4-FFF2-40B4-BE49-F238E27FC236}">
                <a16:creationId xmlns:a16="http://schemas.microsoft.com/office/drawing/2014/main" id="{B37EDB6E-D927-491C-9A8A-04F9A39B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62075"/>
            <a:ext cx="114109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650"/>
              </a:spcAft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BIDOC | CONTRACTS PIPELINE COMPLETE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Contracts Agent and Contract Relationships Agent now convert a contract into traceable clauses, reviewed relationships, normalized decisions and a safe, zero-write handoff.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is persisted in KAPAIM and reloads without reprocessing.</a:t>
            </a:r>
          </a:p>
        </p:txBody>
      </p:sp>
      <p:sp>
        <p:nvSpPr>
          <p:cNvPr id="4" name="callout-card-1">
            <a:extLst xmlns:a="http://schemas.openxmlformats.org/drawingml/2006/main">
              <a:ext uri="{FF2B5EF4-FFF2-40B4-BE49-F238E27FC236}">
                <a16:creationId xmlns:a16="http://schemas.microsoft.com/office/drawing/2014/main" id="{3CC99DF6-1CB0-4657-8DFA-53E525C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62325"/>
            <a:ext cx="35718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heck-1">
            <a:extLst xmlns:a="http://schemas.openxmlformats.org/drawingml/2006/main">
              <a:ext uri="{FF2B5EF4-FFF2-40B4-BE49-F238E27FC236}">
                <a16:creationId xmlns:a16="http://schemas.microsoft.com/office/drawing/2014/main" id="{6D8CC8FF-6B58-4605-970E-0475DF7C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2902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6" name="callout-copy-1">
            <a:extLst xmlns:a="http://schemas.openxmlformats.org/drawingml/2006/main">
              <a:ext uri="{FF2B5EF4-FFF2-40B4-BE49-F238E27FC236}">
                <a16:creationId xmlns:a16="http://schemas.microsoft.com/office/drawing/2014/main" id="{12CE4B4A-CECB-4770-85AB-CBB02212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24325"/>
            <a:ext cx="2952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Contracts Agent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Parsed 743 source lines into 189 grounded records, with Hebrew summaries, controlled tags, exact evidence and durable reuse.</a:t>
            </a:r>
          </a:p>
        </p:txBody>
      </p:sp>
      <p:sp>
        <p:nvSpPr>
          <p:cNvPr id="7" name="callout-card-2">
            <a:extLst xmlns:a="http://schemas.openxmlformats.org/drawingml/2006/main">
              <a:ext uri="{FF2B5EF4-FFF2-40B4-BE49-F238E27FC236}">
                <a16:creationId xmlns:a16="http://schemas.microsoft.com/office/drawing/2014/main" id="{E986E260-706E-46B7-8C23-8D9D9020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62325"/>
            <a:ext cx="35718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heck-2">
            <a:extLst xmlns:a="http://schemas.openxmlformats.org/drawingml/2006/main">
              <a:ext uri="{FF2B5EF4-FFF2-40B4-BE49-F238E27FC236}">
                <a16:creationId xmlns:a16="http://schemas.microsoft.com/office/drawing/2014/main" id="{3B8A6301-38B3-494E-88BD-48E78BC9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2902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9" name="callout-copy-2">
            <a:extLst xmlns:a="http://schemas.openxmlformats.org/drawingml/2006/main">
              <a:ext uri="{FF2B5EF4-FFF2-40B4-BE49-F238E27FC236}">
                <a16:creationId xmlns:a16="http://schemas.microsoft.com/office/drawing/2014/main" id="{248424DC-6644-44D3-990D-57B4CD7B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24325"/>
            <a:ext cx="2952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Relationships &amp; Decisions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Connected clauses, surfaced conflicts and references, and produced 137 current decisions with human review and split/merge lineage.</a:t>
            </a:r>
          </a:p>
        </p:txBody>
      </p:sp>
      <p:sp>
        <p:nvSpPr>
          <p:cNvPr id="10" name="callout-card-3">
            <a:extLst xmlns:a="http://schemas.openxmlformats.org/drawingml/2006/main">
              <a:ext uri="{FF2B5EF4-FFF2-40B4-BE49-F238E27FC236}">
                <a16:creationId xmlns:a16="http://schemas.microsoft.com/office/drawing/2014/main" id="{3BEDD1F3-9183-46CA-BD06-3DAD1B5B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2325"/>
            <a:ext cx="35718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5FC"/>
          </a:solidFill>
        </p:spPr>
      </p:sp>
      <p:sp>
        <p:nvSpPr>
          <p:cNvPr id="11" name="check-3">
            <a:extLst xmlns:a="http://schemas.openxmlformats.org/drawingml/2006/main">
              <a:ext uri="{FF2B5EF4-FFF2-40B4-BE49-F238E27FC236}">
                <a16:creationId xmlns:a16="http://schemas.microsoft.com/office/drawing/2014/main" id="{61C603B3-92A0-430B-9F7E-0DD3D350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29025"/>
            <a:ext cx="28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2" name="callout-copy-3">
            <a:extLst xmlns:a="http://schemas.openxmlformats.org/drawingml/2006/main">
              <a:ext uri="{FF2B5EF4-FFF2-40B4-BE49-F238E27FC236}">
                <a16:creationId xmlns:a16="http://schemas.microsoft.com/office/drawing/2014/main" id="{13536F13-804F-4C07-8D36-29A93AD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124325"/>
            <a:ext cx="29527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Indicator Handoff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Classified 40 suitable, 24 unsuitable and 73 for review. The future Indicator agent owns placement, dates and Schedule writes.</a:t>
            </a:r>
          </a:p>
        </p:txBody>
      </p:sp>
    </p:spTree>
    <p:extLst>
      <p:ext uri="{BB962C8B-B14F-4D97-AF65-F5344CB8AC3E}">
        <p14:creationId xmlns:p14="http://schemas.microsoft.com/office/powerpoint/2010/main" val="2026233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2026-08-18T08:58:42.3190000Z</dcterms:created>
  <dcterms:modified xsi:type="dcterms:W3CDTF">2026-08-18T08:58:42.3200000Z</dcterms:modified>
</coreProperties>
</file>